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33CD9-811A-4721-9450-2BA35BB15D67}" type="datetimeFigureOut">
              <a:rPr lang="en-SG" smtClean="0"/>
              <a:t>26/3/2026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113602-B710-495F-B1A9-CC5C1227BB81}" type="slidenum">
              <a:rPr lang="en-SG" smtClean="0"/>
              <a:t>‹#›</a:t>
            </a:fld>
            <a:endParaRPr lang="en-SG"/>
          </a:p>
        </p:txBody>
      </p:sp>
    </p:spTree>
    <p:extLst>
      <p:ext uri="{BB962C8B-B14F-4D97-AF65-F5344CB8AC3E}">
        <p14:creationId xmlns:p14="http://schemas.microsoft.com/office/powerpoint/2010/main" val="355373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1]
Hello everyone, we are Team 6, and this is our INF1009 Part 2 project, ArcadeSim Gravity Sandbox. Our goal was to prove that the engine we built in Part 1 could be reused for a richer application instead of staying as a one-off demo. We turned that engine into a space sandbox where users can create stars and planets, tune their properties, preview trajectories, and run gravity-based simulations live. In the next few minutes, we will cover the problem we chose, the architecture, the engine improvements, the key sandbox features, and the demo flow.</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1</a:t>
            </a:fld>
            <a:endParaRPr lang="en-SG"/>
          </a:p>
        </p:txBody>
      </p:sp>
    </p:spTree>
    <p:extLst>
      <p:ext uri="{BB962C8B-B14F-4D97-AF65-F5344CB8AC3E}">
        <p14:creationId xmlns:p14="http://schemas.microsoft.com/office/powerpoint/2010/main" val="3889276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1]
For Part 2, we chose to build a simulation instead of a traditional game. The problem we wanted to address was how to make gravitational motion easier to understand in a visual and interactive way. Rather than only reading formulas, users can create bodies, vary mass and velocity, and immediately see how those choices affect the simulation. This fits the project brief because it gives us a concrete application while still letting us showcase code quality, reusability, and good object-oriented design.</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2</a:t>
            </a:fld>
            <a:endParaRPr lang="en-SG"/>
          </a:p>
        </p:txBody>
      </p:sp>
    </p:spTree>
    <p:extLst>
      <p:ext uri="{BB962C8B-B14F-4D97-AF65-F5344CB8AC3E}">
        <p14:creationId xmlns:p14="http://schemas.microsoft.com/office/powerpoint/2010/main" val="4036285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1]
Our architecture is split into two clear layers. The abstract engine layer contains reusable services such as scene management, input, rendering, physics-related managers, sound, timing, and the event bus. On top of that, the concrete sandbox layer implements only the domain-specific behaviour for our gravity simulation, such as the control panel, educational HUD, trajectory prediction, and body factory. This separation is important because it shows that the engine is not hard-coded to a single project idea.</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3</a:t>
            </a:fld>
            <a:endParaRPr lang="en-SG"/>
          </a:p>
        </p:txBody>
      </p:sp>
    </p:spTree>
    <p:extLst>
      <p:ext uri="{BB962C8B-B14F-4D97-AF65-F5344CB8AC3E}">
        <p14:creationId xmlns:p14="http://schemas.microsoft.com/office/powerpoint/2010/main" val="4174476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2]
Compared with Part 1, the engine is now much more mature. We added a fixed timestep loop in the game master so updates stay stable even if frame rate changes. The scene manager now supports scene changes, overlays, and automatic attachment of scene-specific input processors. We also introduced an event bus so systems like collisions and audio can communicate without tight coupling. On the rendering and physics side, we improved support for radius-based circular bodies, sprite-region rendering, and shared sound services. These changes helped us move from a demo engine to a more reusable engine.</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4</a:t>
            </a:fld>
            <a:endParaRPr lang="en-SG"/>
          </a:p>
        </p:txBody>
      </p:sp>
    </p:spTree>
    <p:extLst>
      <p:ext uri="{BB962C8B-B14F-4D97-AF65-F5344CB8AC3E}">
        <p14:creationId xmlns:p14="http://schemas.microsoft.com/office/powerpoint/2010/main" val="3616800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2]
This slide highlights how we applied object-oriented programming and design patterns. We use composition heavily through an ECS style design, where entities are assembled from components like mass, movement, and collision data. The body factory centralises star and planet creation. Collision behaviour is swappable through the strategy pattern. The event bus gives us an observer-style system for decoupled events. We also use an adapter to convert engine entities into simpler N-body states for trajectory prediction. Altogether, these choices support SOLID principles and keep the design extensible.</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5</a:t>
            </a:fld>
            <a:endParaRPr lang="en-SG"/>
          </a:p>
        </p:txBody>
      </p:sp>
    </p:spTree>
    <p:extLst>
      <p:ext uri="{BB962C8B-B14F-4D97-AF65-F5344CB8AC3E}">
        <p14:creationId xmlns:p14="http://schemas.microsoft.com/office/powerpoint/2010/main" val="2847053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2]
The main user experience is built around a sandbox workflow. In blueprint mode, users can plan a setup before running the simulation. They can spawn stars and planets, choose values like mass and velocity, and click any entity to edit it live. While using the sandbox, the educational HUD displays information such as speed, acceleration, nearest star distance, and an interpreted orbit type. We also added a pause scene that lets the user adjust audio settings, toggle velocity vectors, and switch the collision behaviour between merge and mutual destruction.</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6</a:t>
            </a:fld>
            <a:endParaRPr lang="en-SG"/>
          </a:p>
        </p:txBody>
      </p:sp>
    </p:spTree>
    <p:extLst>
      <p:ext uri="{BB962C8B-B14F-4D97-AF65-F5344CB8AC3E}">
        <p14:creationId xmlns:p14="http://schemas.microsoft.com/office/powerpoint/2010/main" val="2553974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3]
This is the high-level logic flow of one simulation cycle. First, the scene processes user input and UI state. Then the engine pipeline runs gravity, movement, and collision in a fixed order. The exact order is configured through the system pipeline, so it is explicit and easy to adjust. In blueprint mode, we do not run the live simulation immediately. Instead, we copy the current bodies into simplified N-body states and generate trajectory predictions. This lets users compare their setup with the later live behaviour and makes the sandbox more educational.</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7</a:t>
            </a:fld>
            <a:endParaRPr lang="en-SG"/>
          </a:p>
        </p:txBody>
      </p:sp>
    </p:spTree>
    <p:extLst>
      <p:ext uri="{BB962C8B-B14F-4D97-AF65-F5344CB8AC3E}">
        <p14:creationId xmlns:p14="http://schemas.microsoft.com/office/powerpoint/2010/main" val="1886883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3]
For the actual video presentation, this is the demo flow we recommend. We begin by placing a star as the main gravitational anchor. Next, we place a planet and adjust its velocity while still in blueprint mode so the predicted path is visible. After that, we start the simulation and show how the real movement compares with the preview. Then we pause the simulation to highlight runtime controls such as velocity vectors, audio sliders, and collision mode. Finally, we demonstrate a collision so the audience can clearly see the difference between destruction and merge behaviour.</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8</a:t>
            </a:fld>
            <a:endParaRPr lang="en-SG"/>
          </a:p>
        </p:txBody>
      </p:sp>
    </p:spTree>
    <p:extLst>
      <p:ext uri="{BB962C8B-B14F-4D97-AF65-F5344CB8AC3E}">
        <p14:creationId xmlns:p14="http://schemas.microsoft.com/office/powerpoint/2010/main" val="2743833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4]
What makes this project interesting is not only the simulation itself, but how it showcases the engine. We are reusing the same abstract foundation instead of writing all behaviour directly inside one scene. The sandbox combines several ideas in one interface: body creation, live editing, trajectory prediction, educational statistics, and swappable collision behaviour. We also made operational limits explicit in configuration, such as active body caps and prediction limits, which makes the system easier to reason about and extend. Before packaging this deck, we also verified the project with a successful Gradle build.</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9</a:t>
            </a:fld>
            <a:endParaRPr lang="en-SG"/>
          </a:p>
        </p:txBody>
      </p:sp>
    </p:spTree>
    <p:extLst>
      <p:ext uri="{BB962C8B-B14F-4D97-AF65-F5344CB8AC3E}">
        <p14:creationId xmlns:p14="http://schemas.microsoft.com/office/powerpoint/2010/main" val="1583017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4]
We also want to be honest about the current limitations. Our trajectory prediction uses a straightforward numerical approach, which is enough for teaching and previewing but not as accurate as more advanced integrators over long durations. Collision checking is also pairwise, so scaling to much larger simulations would benefit from spatial partitioning or other optimisation. We also do not yet support save files or preset scenarios. If we continue this project, our next steps would be better numerical methods, more content, and stronger performance tooling.</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10</a:t>
            </a:fld>
            <a:endParaRPr lang="en-SG"/>
          </a:p>
        </p:txBody>
      </p:sp>
    </p:spTree>
    <p:extLst>
      <p:ext uri="{BB962C8B-B14F-4D97-AF65-F5344CB8AC3E}">
        <p14:creationId xmlns:p14="http://schemas.microsoft.com/office/powerpoint/2010/main" val="1432392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ptos" panose="020B0004020202020204" pitchFamily="34" charset="0"/>
              </a:rPr>
              <a:t>[Suggested speaker: Presenter 4]
To close, the main takeaway is that our Part 1 engine was successfully extended into a separate and more complete application for Part 2. We showed reusable architecture, stronger engine features, and a sandbox that makes gravitational behaviour easier to explore interactively. This gives us a deliverable that is not only functional, but also aligned with the grading focus on code quality, architecture, reusability, and clarity of presentation. Thank you for watching, and please replace the presenter placeholders in these notes with your actual team member names before recording.</a:t>
            </a:r>
            <a:endParaRPr lang="en-SG" sz="16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66113602-B710-495F-B1A9-CC5C1227BB81}" type="slidenum">
              <a:rPr lang="en-SG" smtClean="0"/>
              <a:t>11</a:t>
            </a:fld>
            <a:endParaRPr lang="en-SG"/>
          </a:p>
        </p:txBody>
      </p:sp>
    </p:spTree>
    <p:extLst>
      <p:ext uri="{BB962C8B-B14F-4D97-AF65-F5344CB8AC3E}">
        <p14:creationId xmlns:p14="http://schemas.microsoft.com/office/powerpoint/2010/main" val="3782704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2373-6B28-5FA8-72EC-10A41FA8B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B065E68B-1D93-AD12-3562-C7E04B3366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4A8DB1BF-6679-124C-EADC-13E219E4E660}"/>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5785BDF8-0A48-5F34-6A54-E8D19891D8A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8E39AE2-3F54-D265-6D92-A7C6F2FEC86B}"/>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1233138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899D7-ED7E-F4B8-189C-EF1AA20EEF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D14BFFCB-FB7D-3355-EFB1-5BC64BA270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4D048A9-FFE9-46E6-136F-EF49535020CA}"/>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E6AF1775-7C7F-2D68-4408-365D4B6BC60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6A8F529-B4C9-2732-DB71-DCFED210FD66}"/>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2766571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C9CF4-5290-FA86-E728-44314B0C5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D2A6AAB-214F-C08E-3DA3-D590B82048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44D228-9CEC-3EC2-DC6B-A3A4621E913A}"/>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23DBC1D4-3451-CB98-FBC2-0F19CE30DDA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D793F73-FAF0-6B5C-AA24-6D6005F32CD3}"/>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2840546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0FD0-1129-476A-CE87-25C9AABF3BD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E521649-D051-43F6-91C9-9CCB076734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F4C766B-778E-45AF-CFD9-B571071839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F057E23-977A-10BE-8854-4927F7B0A9F9}"/>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6" name="Footer Placeholder 5">
            <a:extLst>
              <a:ext uri="{FF2B5EF4-FFF2-40B4-BE49-F238E27FC236}">
                <a16:creationId xmlns:a16="http://schemas.microsoft.com/office/drawing/2014/main" id="{44254D5A-1435-EB7A-72B6-4E061D90840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C9FBBAA-FA87-FFBA-44C0-25A62D3EA60C}"/>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390454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35095-62DF-AE04-E613-5563B31D967F}"/>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70E35D7-F5A7-2F5A-8CED-9AA2F31C0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57B848-548F-BCD0-698C-6FB0C2F393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9E7E3860-C315-25B8-DB6E-382E7E1D90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A3B9AB-A6AA-9B60-2333-C585BF825E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60A7AFDC-B043-2E6E-29D6-0096046A19AC}"/>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8" name="Footer Placeholder 7">
            <a:extLst>
              <a:ext uri="{FF2B5EF4-FFF2-40B4-BE49-F238E27FC236}">
                <a16:creationId xmlns:a16="http://schemas.microsoft.com/office/drawing/2014/main" id="{B42ECDE0-AA7E-DC37-62C6-FBB76840F99B}"/>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EFCDD516-228E-211B-FB18-A1B1E9EC4C3D}"/>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3568301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B8218-0588-D87F-DE90-95A0739D8C33}"/>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B0157BC-9390-ACDC-7BC7-67C079334EFD}"/>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4" name="Footer Placeholder 3">
            <a:extLst>
              <a:ext uri="{FF2B5EF4-FFF2-40B4-BE49-F238E27FC236}">
                <a16:creationId xmlns:a16="http://schemas.microsoft.com/office/drawing/2014/main" id="{89D7F11A-5F8A-CF09-CFE1-E4D8664AB58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46A7719B-67AE-4BF2-125C-7D686ABCE70D}"/>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3672903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A9CF37-8B77-1719-ECD6-FC6C936E40BC}"/>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3" name="Footer Placeholder 2">
            <a:extLst>
              <a:ext uri="{FF2B5EF4-FFF2-40B4-BE49-F238E27FC236}">
                <a16:creationId xmlns:a16="http://schemas.microsoft.com/office/drawing/2014/main" id="{39370398-B581-1BCB-8406-2E22257B91FE}"/>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418750B-6870-3182-A58A-DCE0EA1C971B}"/>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1202882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B423-9273-4AA8-E586-62F9C4408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CD580AE-16D5-EC4D-6C49-2F2C83A874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4CA6EB6D-E4D3-FFD5-34AD-8AA3BF0FA1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176716-1B14-DA7C-F9CC-58F7019D1502}"/>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6" name="Footer Placeholder 5">
            <a:extLst>
              <a:ext uri="{FF2B5EF4-FFF2-40B4-BE49-F238E27FC236}">
                <a16:creationId xmlns:a16="http://schemas.microsoft.com/office/drawing/2014/main" id="{A49C9C96-9107-6929-A11F-2FC547027C0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B387BE-70FD-2B40-D878-50A4181D281A}"/>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180057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F7A02-0951-1CBF-79AE-F21821A0C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2FBE546A-D51F-4428-D5B1-93D314765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274F939B-EE4B-5BCE-3163-B6E015118D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2302D9-98EA-E9FC-8F4C-6D81F21C22AB}"/>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6" name="Footer Placeholder 5">
            <a:extLst>
              <a:ext uri="{FF2B5EF4-FFF2-40B4-BE49-F238E27FC236}">
                <a16:creationId xmlns:a16="http://schemas.microsoft.com/office/drawing/2014/main" id="{0DC3AA59-5A79-851F-3E5F-DE354BC9D3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57C0C41-8139-6294-4C60-62EF08C81081}"/>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3996858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1B22E-7C75-5CEA-1500-BFDE99C2A54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D188C4B-2580-BBA4-FA3D-47A226D20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C1539DE-2912-64CD-3CA2-1B68ABA37652}"/>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469FC0B8-D3D3-3B82-680A-3CA884C6B71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240E6C1-F427-80DE-0763-B4E71538048D}"/>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791952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D9EA85-10A7-AC04-52C2-F45C52EBC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5F62FC2-B6C6-8E57-E0D1-323E9B81A6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83B59BB-531F-6E8B-550A-FE5920E4593E}"/>
              </a:ext>
            </a:extLst>
          </p:cNvPr>
          <p:cNvSpPr>
            <a:spLocks noGrp="1"/>
          </p:cNvSpPr>
          <p:nvPr>
            <p:ph type="dt" sz="half" idx="10"/>
          </p:nvPr>
        </p:nvSpPr>
        <p:spPr/>
        <p:txBody>
          <a:body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499C9845-B429-E580-24AD-657E75FABA6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89B641C-8159-402A-362A-887550CC3C42}"/>
              </a:ext>
            </a:extLst>
          </p:cNvPr>
          <p:cNvSpPr>
            <a:spLocks noGrp="1"/>
          </p:cNvSpPr>
          <p:nvPr>
            <p:ph type="sldNum" sz="quarter" idx="12"/>
          </p:nvPr>
        </p:nvSpPr>
        <p:spPr/>
        <p:txBody>
          <a:bodyPr/>
          <a:lstStyle/>
          <a:p>
            <a:fld id="{A64E0055-ECE1-402A-B651-DB24CB52C7ED}" type="slidenum">
              <a:rPr lang="en-SG" smtClean="0"/>
              <a:t>‹#›</a:t>
            </a:fld>
            <a:endParaRPr lang="en-SG"/>
          </a:p>
        </p:txBody>
      </p:sp>
    </p:spTree>
    <p:extLst>
      <p:ext uri="{BB962C8B-B14F-4D97-AF65-F5344CB8AC3E}">
        <p14:creationId xmlns:p14="http://schemas.microsoft.com/office/powerpoint/2010/main" val="1902546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A461F1-0445-9B0E-5AE2-379761C204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C6293CD-F40C-9726-74CB-F731E2B9C5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4D3AD7A-BF4A-3052-9574-3745CD12F4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3FA7FE-22CA-4D20-84D8-4C869F161318}" type="datetimeFigureOut">
              <a:rPr lang="en-SG" smtClean="0"/>
              <a:t>26/3/2026</a:t>
            </a:fld>
            <a:endParaRPr lang="en-SG"/>
          </a:p>
        </p:txBody>
      </p:sp>
      <p:sp>
        <p:nvSpPr>
          <p:cNvPr id="5" name="Footer Placeholder 4">
            <a:extLst>
              <a:ext uri="{FF2B5EF4-FFF2-40B4-BE49-F238E27FC236}">
                <a16:creationId xmlns:a16="http://schemas.microsoft.com/office/drawing/2014/main" id="{36B9E36D-5B4E-9047-EB85-967BEAB7B6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DEED732C-B102-4DAD-6BE7-5B413E433B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4E0055-ECE1-402A-B651-DB24CB52C7ED}" type="slidenum">
              <a:rPr lang="en-SG" smtClean="0"/>
              <a:t>‹#›</a:t>
            </a:fld>
            <a:endParaRPr lang="en-SG"/>
          </a:p>
        </p:txBody>
      </p:sp>
    </p:spTree>
    <p:extLst>
      <p:ext uri="{BB962C8B-B14F-4D97-AF65-F5344CB8AC3E}">
        <p14:creationId xmlns:p14="http://schemas.microsoft.com/office/powerpoint/2010/main" val="3313796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CFED9B-06CC-1872-1A67-2617C82C9D47}"/>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Picture 3">
            <a:extLst>
              <a:ext uri="{FF2B5EF4-FFF2-40B4-BE49-F238E27FC236}">
                <a16:creationId xmlns:a16="http://schemas.microsoft.com/office/drawing/2014/main" id="{C3249B01-4AEC-302E-674A-DA44DCEFCC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
        <p:nvSpPr>
          <p:cNvPr id="5" name="Rectangle 4">
            <a:extLst>
              <a:ext uri="{FF2B5EF4-FFF2-40B4-BE49-F238E27FC236}">
                <a16:creationId xmlns:a16="http://schemas.microsoft.com/office/drawing/2014/main" id="{61C63C62-95FA-E626-7647-A99AEF4EAF48}"/>
              </a:ext>
            </a:extLst>
          </p:cNvPr>
          <p:cNvSpPr/>
          <p:nvPr/>
        </p:nvSpPr>
        <p:spPr>
          <a:xfrm>
            <a:off x="0" y="0"/>
            <a:ext cx="12192000" cy="6858000"/>
          </a:xfrm>
          <a:prstGeom prst="rect">
            <a:avLst/>
          </a:prstGeom>
          <a:solidFill>
            <a:srgbClr val="0C172B">
              <a:alpha val="7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Rectangle 5">
            <a:extLst>
              <a:ext uri="{FF2B5EF4-FFF2-40B4-BE49-F238E27FC236}">
                <a16:creationId xmlns:a16="http://schemas.microsoft.com/office/drawing/2014/main" id="{744897DC-A802-2618-E80C-6AEC06780EAB}"/>
              </a:ext>
            </a:extLst>
          </p:cNvPr>
          <p:cNvSpPr/>
          <p:nvPr/>
        </p:nvSpPr>
        <p:spPr>
          <a:xfrm>
            <a:off x="736600" y="889000"/>
            <a:ext cx="4064000" cy="355600"/>
          </a:xfrm>
          <a:prstGeom prst="rect">
            <a:avLst/>
          </a:prstGeom>
          <a:solidFill>
            <a:srgbClr val="4CABB3">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CC552798-97C7-B3E9-FC0D-3F8681E2EF47}"/>
              </a:ext>
            </a:extLst>
          </p:cNvPr>
          <p:cNvSpPr txBox="1"/>
          <p:nvPr/>
        </p:nvSpPr>
        <p:spPr>
          <a:xfrm>
            <a:off x="914400" y="965200"/>
            <a:ext cx="3708400" cy="235962"/>
          </a:xfrm>
          <a:prstGeom prst="rect">
            <a:avLst/>
          </a:prstGeom>
          <a:noFill/>
        </p:spPr>
        <p:txBody>
          <a:bodyPr vert="horz" wrap="square" lIns="50800" tIns="25400" rIns="50800" bIns="25400" rtlCol="0">
            <a:spAutoFit/>
          </a:bodyPr>
          <a:lstStyle/>
          <a:p>
            <a:r>
              <a:rPr lang="en-SG" sz="1200" b="1">
                <a:solidFill>
                  <a:srgbClr val="F5F7FA"/>
                </a:solidFill>
                <a:latin typeface="Aptos" panose="020B0004020202020204" pitchFamily="34" charset="0"/>
              </a:rPr>
              <a:t>Reusable Engine + Educational Simulation</a:t>
            </a:r>
          </a:p>
        </p:txBody>
      </p:sp>
      <p:sp>
        <p:nvSpPr>
          <p:cNvPr id="8" name="TextBox 7">
            <a:extLst>
              <a:ext uri="{FF2B5EF4-FFF2-40B4-BE49-F238E27FC236}">
                <a16:creationId xmlns:a16="http://schemas.microsoft.com/office/drawing/2014/main" id="{1B0F780D-009B-2F98-6E5E-8E672DC301BE}"/>
              </a:ext>
            </a:extLst>
          </p:cNvPr>
          <p:cNvSpPr txBox="1"/>
          <p:nvPr/>
        </p:nvSpPr>
        <p:spPr>
          <a:xfrm>
            <a:off x="736600" y="1778000"/>
            <a:ext cx="6604000" cy="482183"/>
          </a:xfrm>
          <a:prstGeom prst="rect">
            <a:avLst/>
          </a:prstGeom>
          <a:noFill/>
        </p:spPr>
        <p:txBody>
          <a:bodyPr vert="horz" wrap="square" lIns="50800" tIns="25400" rIns="50800" bIns="25400" rtlCol="0">
            <a:spAutoFit/>
          </a:bodyPr>
          <a:lstStyle/>
          <a:p>
            <a:r>
              <a:rPr lang="en-SG" sz="2800" b="1">
                <a:solidFill>
                  <a:srgbClr val="F5F7FA"/>
                </a:solidFill>
                <a:latin typeface="Aptos Display" panose="020B0004020202020204" pitchFamily="34" charset="0"/>
              </a:rPr>
              <a:t>ArcadeSim Gravity Sandbox</a:t>
            </a:r>
          </a:p>
        </p:txBody>
      </p:sp>
      <p:sp>
        <p:nvSpPr>
          <p:cNvPr id="9" name="TextBox 8">
            <a:extLst>
              <a:ext uri="{FF2B5EF4-FFF2-40B4-BE49-F238E27FC236}">
                <a16:creationId xmlns:a16="http://schemas.microsoft.com/office/drawing/2014/main" id="{E99509D1-0167-A1A1-30C5-2EB7BC1DF3E1}"/>
              </a:ext>
            </a:extLst>
          </p:cNvPr>
          <p:cNvSpPr txBox="1"/>
          <p:nvPr/>
        </p:nvSpPr>
        <p:spPr>
          <a:xfrm>
            <a:off x="736600" y="2794000"/>
            <a:ext cx="6350000" cy="574516"/>
          </a:xfrm>
          <a:prstGeom prst="rect">
            <a:avLst/>
          </a:prstGeom>
          <a:noFill/>
        </p:spPr>
        <p:txBody>
          <a:bodyPr vert="horz" wrap="square" lIns="50800" tIns="25400" rIns="50800" bIns="25400" rtlCol="0">
            <a:spAutoFit/>
          </a:bodyPr>
          <a:lstStyle/>
          <a:p>
            <a:r>
              <a:rPr lang="en-US" sz="1700">
                <a:solidFill>
                  <a:srgbClr val="C8D2E4"/>
                </a:solidFill>
                <a:latin typeface="Aptos" panose="020B0004020202020204" pitchFamily="34" charset="0"/>
              </a:rPr>
              <a:t>INF1009 Part 2 presentation for Team 6. Built with a reusable libGDX engine and extended into an interactive space sandbox.</a:t>
            </a:r>
            <a:endParaRPr lang="en-SG" sz="1700">
              <a:solidFill>
                <a:srgbClr val="C8D2E4"/>
              </a:solidFill>
              <a:latin typeface="Aptos" panose="020B0004020202020204" pitchFamily="34" charset="0"/>
            </a:endParaRPr>
          </a:p>
        </p:txBody>
      </p:sp>
      <p:sp>
        <p:nvSpPr>
          <p:cNvPr id="10" name="TextBox 9">
            <a:extLst>
              <a:ext uri="{FF2B5EF4-FFF2-40B4-BE49-F238E27FC236}">
                <a16:creationId xmlns:a16="http://schemas.microsoft.com/office/drawing/2014/main" id="{6925C80D-12C4-EF40-229E-6957C0C9CABE}"/>
              </a:ext>
            </a:extLst>
          </p:cNvPr>
          <p:cNvSpPr txBox="1"/>
          <p:nvPr/>
        </p:nvSpPr>
        <p:spPr>
          <a:xfrm>
            <a:off x="736600" y="6019800"/>
            <a:ext cx="2540000" cy="220573"/>
          </a:xfrm>
          <a:prstGeom prst="rect">
            <a:avLst/>
          </a:prstGeom>
          <a:noFill/>
        </p:spPr>
        <p:txBody>
          <a:bodyPr vert="horz" wrap="square" lIns="50800" tIns="25400" rIns="50800" bIns="25400" rtlCol="0">
            <a:spAutoFit/>
          </a:bodyPr>
          <a:lstStyle/>
          <a:p>
            <a:r>
              <a:rPr lang="en-SG" sz="1100" b="1">
                <a:solidFill>
                  <a:srgbClr val="ECC355"/>
                </a:solidFill>
                <a:latin typeface="Aptos" panose="020B0004020202020204" pitchFamily="34" charset="0"/>
              </a:rPr>
              <a:t>Team 6</a:t>
            </a:r>
          </a:p>
        </p:txBody>
      </p:sp>
      <p:sp>
        <p:nvSpPr>
          <p:cNvPr id="11" name="TextBox 10">
            <a:extLst>
              <a:ext uri="{FF2B5EF4-FFF2-40B4-BE49-F238E27FC236}">
                <a16:creationId xmlns:a16="http://schemas.microsoft.com/office/drawing/2014/main" id="{E09CD409-AAD7-A004-C5C0-06818E32A71F}"/>
              </a:ext>
            </a:extLst>
          </p:cNvPr>
          <p:cNvSpPr txBox="1"/>
          <p:nvPr/>
        </p:nvSpPr>
        <p:spPr>
          <a:xfrm>
            <a:off x="736600" y="6286500"/>
            <a:ext cx="406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Slides + speaker notes generated from the project repo and Part 2 guidelines</a:t>
            </a:r>
            <a:endParaRPr lang="en-SG" sz="900">
              <a:solidFill>
                <a:srgbClr val="C8D2E4"/>
              </a:solidFill>
              <a:latin typeface="Aptos" panose="020B0004020202020204" pitchFamily="34" charset="0"/>
            </a:endParaRPr>
          </a:p>
        </p:txBody>
      </p:sp>
    </p:spTree>
    <p:extLst>
      <p:ext uri="{BB962C8B-B14F-4D97-AF65-F5344CB8AC3E}">
        <p14:creationId xmlns:p14="http://schemas.microsoft.com/office/powerpoint/2010/main" val="3425250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8EE0DB-D50A-D54F-AC2D-83908C0AA43D}"/>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024622F5-1D0C-41F2-7EA5-B9CFFA053E0D}"/>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AAE4CEB8-CD19-095B-6564-DD57C751E07C}"/>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Problem And Objectives</a:t>
            </a:r>
          </a:p>
        </p:txBody>
      </p:sp>
      <p:sp>
        <p:nvSpPr>
          <p:cNvPr id="5" name="TextBox 4">
            <a:extLst>
              <a:ext uri="{FF2B5EF4-FFF2-40B4-BE49-F238E27FC236}">
                <a16:creationId xmlns:a16="http://schemas.microsoft.com/office/drawing/2014/main" id="{2B62CDB3-3A9B-A400-1F59-1C81B7C4B245}"/>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71EE21EC-B6B7-9699-335D-F040D6AD51BB}"/>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2</a:t>
            </a:r>
          </a:p>
        </p:txBody>
      </p:sp>
      <p:sp>
        <p:nvSpPr>
          <p:cNvPr id="7" name="TextBox 6">
            <a:extLst>
              <a:ext uri="{FF2B5EF4-FFF2-40B4-BE49-F238E27FC236}">
                <a16:creationId xmlns:a16="http://schemas.microsoft.com/office/drawing/2014/main" id="{6266A4A1-34A5-11D4-9DE7-141255068177}"/>
              </a:ext>
            </a:extLst>
          </p:cNvPr>
          <p:cNvSpPr txBox="1"/>
          <p:nvPr/>
        </p:nvSpPr>
        <p:spPr>
          <a:xfrm>
            <a:off x="609600" y="1168400"/>
            <a:ext cx="5969000" cy="292900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Build a reusable engine, then apply it to a separate real-world style problem.</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Chosen problem: make gravity and orbit behaviour easier to explore visually.</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Target audience: beginners learning physics ideas through experimentation.</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Focus areas: reusability, scalability, clean OOP design, and a strong live demo.</a:t>
            </a:r>
            <a:endParaRPr lang="en-SG" sz="1700">
              <a:solidFill>
                <a:srgbClr val="F5F7FA"/>
              </a:solidFill>
              <a:latin typeface="Aptos" panose="020B0004020202020204" pitchFamily="34" charset="0"/>
            </a:endParaRPr>
          </a:p>
        </p:txBody>
      </p:sp>
      <p:sp>
        <p:nvSpPr>
          <p:cNvPr id="8" name="Rectangle 7">
            <a:extLst>
              <a:ext uri="{FF2B5EF4-FFF2-40B4-BE49-F238E27FC236}">
                <a16:creationId xmlns:a16="http://schemas.microsoft.com/office/drawing/2014/main" id="{E9BEA162-BC6A-D8E9-7772-7EE144001A5E}"/>
              </a:ext>
            </a:extLst>
          </p:cNvPr>
          <p:cNvSpPr/>
          <p:nvPr/>
        </p:nvSpPr>
        <p:spPr>
          <a:xfrm>
            <a:off x="7112000" y="1320800"/>
            <a:ext cx="4191000" cy="2921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87958D22-0602-CD7F-FE83-838FF70EAF9A}"/>
              </a:ext>
            </a:extLst>
          </p:cNvPr>
          <p:cNvSpPr txBox="1"/>
          <p:nvPr/>
        </p:nvSpPr>
        <p:spPr>
          <a:xfrm>
            <a:off x="7391400" y="1574800"/>
            <a:ext cx="3632200" cy="328295"/>
          </a:xfrm>
          <a:prstGeom prst="rect">
            <a:avLst/>
          </a:prstGeom>
          <a:noFill/>
        </p:spPr>
        <p:txBody>
          <a:bodyPr vert="horz" wrap="square" lIns="50800" tIns="25400" rIns="50800" bIns="25400" rtlCol="0">
            <a:spAutoFit/>
          </a:bodyPr>
          <a:lstStyle/>
          <a:p>
            <a:r>
              <a:rPr lang="en-US" b="1">
                <a:solidFill>
                  <a:srgbClr val="ECC355"/>
                </a:solidFill>
                <a:latin typeface="Aptos Display" panose="020B0004020202020204" pitchFamily="34" charset="0"/>
              </a:rPr>
              <a:t>Why this simulation fits the brief</a:t>
            </a:r>
            <a:endParaRPr lang="en-SG" b="1">
              <a:solidFill>
                <a:srgbClr val="ECC355"/>
              </a:solidFill>
              <a:latin typeface="Aptos Display" panose="020B0004020202020204" pitchFamily="34" charset="0"/>
            </a:endParaRPr>
          </a:p>
        </p:txBody>
      </p:sp>
      <p:sp>
        <p:nvSpPr>
          <p:cNvPr id="10" name="TextBox 9">
            <a:extLst>
              <a:ext uri="{FF2B5EF4-FFF2-40B4-BE49-F238E27FC236}">
                <a16:creationId xmlns:a16="http://schemas.microsoft.com/office/drawing/2014/main" id="{2AA97D6B-7348-66D2-2523-A7F98F8E130A}"/>
              </a:ext>
            </a:extLst>
          </p:cNvPr>
          <p:cNvSpPr txBox="1"/>
          <p:nvPr/>
        </p:nvSpPr>
        <p:spPr>
          <a:xfrm>
            <a:off x="7391400" y="2032000"/>
            <a:ext cx="3505200" cy="1559401"/>
          </a:xfrm>
          <a:prstGeom prst="rect">
            <a:avLst/>
          </a:prstGeom>
          <a:noFill/>
        </p:spPr>
        <p:txBody>
          <a:bodyPr vert="horz" wrap="square" lIns="50800" tIns="25400" rIns="50800" bIns="25400" rtlCol="0">
            <a:spAutoFit/>
          </a:bodyPr>
          <a:lstStyle/>
          <a:p>
            <a:r>
              <a:rPr lang="en-US" sz="1400">
                <a:solidFill>
                  <a:srgbClr val="F5F7FA"/>
                </a:solidFill>
                <a:latin typeface="Aptos" panose="020B0004020202020204" pitchFamily="34" charset="0"/>
              </a:rPr>
              <a:t>It uses the abstract engine from Part 1, but applies it to a different problem domain. Instead of focusing on content complexity alone, the project emphasises reusable components, clear architecture, and a simulation that can be demonstrated live within ten minutes.</a:t>
            </a:r>
            <a:endParaRPr lang="en-SG" sz="1400">
              <a:solidFill>
                <a:srgbClr val="F5F7FA"/>
              </a:solidFill>
              <a:latin typeface="Aptos" panose="020B0004020202020204" pitchFamily="34" charset="0"/>
            </a:endParaRPr>
          </a:p>
        </p:txBody>
      </p:sp>
    </p:spTree>
    <p:extLst>
      <p:ext uri="{BB962C8B-B14F-4D97-AF65-F5344CB8AC3E}">
        <p14:creationId xmlns:p14="http://schemas.microsoft.com/office/powerpoint/2010/main" val="1638174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D824B0-B92F-EAA9-0063-91CFCFF6B995}"/>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D40C8C3-AFEF-2622-B56D-A769AC07E6F4}"/>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964F65CF-99DF-E85B-CCA1-309CCF093049}"/>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Two-Layer Architecture</a:t>
            </a:r>
          </a:p>
        </p:txBody>
      </p:sp>
      <p:sp>
        <p:nvSpPr>
          <p:cNvPr id="5" name="TextBox 4">
            <a:extLst>
              <a:ext uri="{FF2B5EF4-FFF2-40B4-BE49-F238E27FC236}">
                <a16:creationId xmlns:a16="http://schemas.microsoft.com/office/drawing/2014/main" id="{D517EA26-4EC6-DDD9-FE76-61BD74D252E8}"/>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2BFB2735-0436-01EF-FDE8-D8C63D73DCBC}"/>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3</a:t>
            </a:r>
          </a:p>
        </p:txBody>
      </p:sp>
      <p:sp>
        <p:nvSpPr>
          <p:cNvPr id="7" name="TextBox 6">
            <a:extLst>
              <a:ext uri="{FF2B5EF4-FFF2-40B4-BE49-F238E27FC236}">
                <a16:creationId xmlns:a16="http://schemas.microsoft.com/office/drawing/2014/main" id="{9F14B3F3-4BCE-04F8-859B-5C55B7257D8A}"/>
              </a:ext>
            </a:extLst>
          </p:cNvPr>
          <p:cNvSpPr txBox="1"/>
          <p:nvPr/>
        </p:nvSpPr>
        <p:spPr>
          <a:xfrm>
            <a:off x="609600" y="1168400"/>
            <a:ext cx="4572000" cy="3452227"/>
          </a:xfrm>
          <a:prstGeom prst="rect">
            <a:avLst/>
          </a:prstGeom>
          <a:noFill/>
        </p:spPr>
        <p:txBody>
          <a:bodyPr vert="horz" wrap="square" lIns="50800" tIns="25400" rIns="50800" bIns="25400" rtlCol="0">
            <a:spAutoFit/>
          </a:bodyPr>
          <a:lstStyle/>
          <a:p>
            <a:r>
              <a:rPr lang="en-SG" sz="1700">
                <a:solidFill>
                  <a:srgbClr val="F5F7FA"/>
                </a:solidFill>
                <a:latin typeface="Aptos" panose="020B0004020202020204" pitchFamily="34" charset="0"/>
              </a:rPr>
              <a:t>• engineLayer handles scenes, ECS, rendering, input, gravity, collision, audio, timing, and events.</a:t>
            </a:r>
          </a:p>
          <a:p>
            <a:endParaRPr lang="en-SG" sz="1700">
              <a:solidFill>
                <a:srgbClr val="F5F7FA"/>
              </a:solidFill>
              <a:latin typeface="Aptos" panose="020B0004020202020204" pitchFamily="34" charset="0"/>
            </a:endParaRPr>
          </a:p>
          <a:p>
            <a:r>
              <a:rPr lang="en-SG" sz="1700">
                <a:solidFill>
                  <a:srgbClr val="F5F7FA"/>
                </a:solidFill>
                <a:latin typeface="Aptos" panose="020B0004020202020204" pitchFamily="34" charset="0"/>
              </a:rPr>
              <a:t>• concreteLayer.sandbox contains menus, sandbox scenes, UI, body creation, prediction, and sandbox audio.</a:t>
            </a:r>
          </a:p>
          <a:p>
            <a:endParaRPr lang="en-SG" sz="1700">
              <a:solidFill>
                <a:srgbClr val="F5F7FA"/>
              </a:solidFill>
              <a:latin typeface="Aptos" panose="020B0004020202020204" pitchFamily="34" charset="0"/>
            </a:endParaRPr>
          </a:p>
          <a:p>
            <a:r>
              <a:rPr lang="en-SG" sz="1700">
                <a:solidFill>
                  <a:srgbClr val="F5F7FA"/>
                </a:solidFill>
                <a:latin typeface="Aptos" panose="020B0004020202020204" pitchFamily="34" charset="0"/>
              </a:rPr>
              <a:t>• The engine stays game-agnostic while the sandbox layer stays domain-specific.</a:t>
            </a:r>
          </a:p>
          <a:p>
            <a:endParaRPr lang="en-SG" sz="1700">
              <a:solidFill>
                <a:srgbClr val="F5F7FA"/>
              </a:solidFill>
              <a:latin typeface="Aptos" panose="020B0004020202020204" pitchFamily="34" charset="0"/>
            </a:endParaRPr>
          </a:p>
          <a:p>
            <a:r>
              <a:rPr lang="en-SG" sz="1700">
                <a:solidFill>
                  <a:srgbClr val="F5F7FA"/>
                </a:solidFill>
                <a:latin typeface="Aptos" panose="020B0004020202020204" pitchFamily="34" charset="0"/>
              </a:rPr>
              <a:t>• The same engine structure can support other simulations or games later.</a:t>
            </a:r>
          </a:p>
        </p:txBody>
      </p:sp>
      <p:sp>
        <p:nvSpPr>
          <p:cNvPr id="8" name="Rectangle 7">
            <a:extLst>
              <a:ext uri="{FF2B5EF4-FFF2-40B4-BE49-F238E27FC236}">
                <a16:creationId xmlns:a16="http://schemas.microsoft.com/office/drawing/2014/main" id="{1F40D7C6-2877-089B-FD82-AD619363213A}"/>
              </a:ext>
            </a:extLst>
          </p:cNvPr>
          <p:cNvSpPr/>
          <p:nvPr/>
        </p:nvSpPr>
        <p:spPr>
          <a:xfrm>
            <a:off x="5765800" y="1168400"/>
            <a:ext cx="5562600" cy="4470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C5872770-FD51-5378-2004-720E47C09C9A}"/>
              </a:ext>
            </a:extLst>
          </p:cNvPr>
          <p:cNvSpPr txBox="1"/>
          <p:nvPr/>
        </p:nvSpPr>
        <p:spPr>
          <a:xfrm>
            <a:off x="6045200" y="1371600"/>
            <a:ext cx="5003800" cy="297517"/>
          </a:xfrm>
          <a:prstGeom prst="rect">
            <a:avLst/>
          </a:prstGeom>
          <a:noFill/>
        </p:spPr>
        <p:txBody>
          <a:bodyPr vert="horz" wrap="square" lIns="50800" tIns="25400" rIns="50800" bIns="25400" rtlCol="0">
            <a:spAutoFit/>
          </a:bodyPr>
          <a:lstStyle/>
          <a:p>
            <a:r>
              <a:rPr lang="en-SG" sz="1600" b="1">
                <a:solidFill>
                  <a:srgbClr val="ECC355"/>
                </a:solidFill>
                <a:latin typeface="Aptos Display" panose="020B0004020202020204" pitchFamily="34" charset="0"/>
              </a:rPr>
              <a:t>Scene-driven architecture overview</a:t>
            </a:r>
          </a:p>
        </p:txBody>
      </p:sp>
      <p:pic>
        <p:nvPicPr>
          <p:cNvPr id="11" name="Picture 10">
            <a:extLst>
              <a:ext uri="{FF2B5EF4-FFF2-40B4-BE49-F238E27FC236}">
                <a16:creationId xmlns:a16="http://schemas.microsoft.com/office/drawing/2014/main" id="{2967D90D-A65B-9703-49AB-CCB592C26D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37516" y="1752600"/>
            <a:ext cx="4993767" cy="3632200"/>
          </a:xfrm>
          <a:prstGeom prst="rect">
            <a:avLst/>
          </a:prstGeom>
          <a:ln w="15240">
            <a:solidFill>
              <a:srgbClr val="1F3459"/>
            </a:solidFill>
          </a:ln>
        </p:spPr>
      </p:pic>
    </p:spTree>
    <p:extLst>
      <p:ext uri="{BB962C8B-B14F-4D97-AF65-F5344CB8AC3E}">
        <p14:creationId xmlns:p14="http://schemas.microsoft.com/office/powerpoint/2010/main" val="908286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E660FA-1E01-0440-BB32-AB12853F27AA}"/>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40CD5F15-49C9-6996-4FC7-9391BD045484}"/>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A7EEBB43-610C-1064-CD15-83A2BEC81084}"/>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Engine Improvements Since Part 1</a:t>
            </a:r>
          </a:p>
        </p:txBody>
      </p:sp>
      <p:sp>
        <p:nvSpPr>
          <p:cNvPr id="5" name="TextBox 4">
            <a:extLst>
              <a:ext uri="{FF2B5EF4-FFF2-40B4-BE49-F238E27FC236}">
                <a16:creationId xmlns:a16="http://schemas.microsoft.com/office/drawing/2014/main" id="{3315623F-37DA-7C8D-F427-0219CF08D6D6}"/>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874AC945-DB36-0F77-7595-61CC22B54240}"/>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4</a:t>
            </a:r>
          </a:p>
        </p:txBody>
      </p:sp>
      <p:sp>
        <p:nvSpPr>
          <p:cNvPr id="7" name="Rectangle 6">
            <a:extLst>
              <a:ext uri="{FF2B5EF4-FFF2-40B4-BE49-F238E27FC236}">
                <a16:creationId xmlns:a16="http://schemas.microsoft.com/office/drawing/2014/main" id="{EC02ADC2-5F37-8D23-4405-DB7236F860FD}"/>
              </a:ext>
            </a:extLst>
          </p:cNvPr>
          <p:cNvSpPr/>
          <p:nvPr/>
        </p:nvSpPr>
        <p:spPr>
          <a:xfrm>
            <a:off x="609600" y="11684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9A131160-F6CF-7107-470D-EDE8EE4F665A}"/>
              </a:ext>
            </a:extLst>
          </p:cNvPr>
          <p:cNvSpPr/>
          <p:nvPr/>
        </p:nvSpPr>
        <p:spPr>
          <a:xfrm>
            <a:off x="609600" y="1168400"/>
            <a:ext cx="101600" cy="14224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D9A6A224-1413-F925-567D-713C9B90FE24}"/>
              </a:ext>
            </a:extLst>
          </p:cNvPr>
          <p:cNvSpPr txBox="1"/>
          <p:nvPr/>
        </p:nvSpPr>
        <p:spPr>
          <a:xfrm>
            <a:off x="863600" y="13462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Stable updates</a:t>
            </a:r>
          </a:p>
        </p:txBody>
      </p:sp>
      <p:sp>
        <p:nvSpPr>
          <p:cNvPr id="10" name="TextBox 9">
            <a:extLst>
              <a:ext uri="{FF2B5EF4-FFF2-40B4-BE49-F238E27FC236}">
                <a16:creationId xmlns:a16="http://schemas.microsoft.com/office/drawing/2014/main" id="{0F88B200-A8C0-0294-A2E1-6D0B357DC0AF}"/>
              </a:ext>
            </a:extLst>
          </p:cNvPr>
          <p:cNvSpPr txBox="1"/>
          <p:nvPr/>
        </p:nvSpPr>
        <p:spPr>
          <a:xfrm>
            <a:off x="863600" y="17018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Fixed timestep logic in AbstractGameMaster makes simulation timing more predictable and protects against runaway frame spikes.</a:t>
            </a:r>
            <a:endParaRPr lang="en-SG" sz="1100">
              <a:solidFill>
                <a:srgbClr val="C8D2E4"/>
              </a:solidFill>
              <a:latin typeface="Aptos" panose="020B0004020202020204" pitchFamily="34" charset="0"/>
            </a:endParaRPr>
          </a:p>
        </p:txBody>
      </p:sp>
      <p:sp>
        <p:nvSpPr>
          <p:cNvPr id="11" name="Rectangle 10">
            <a:extLst>
              <a:ext uri="{FF2B5EF4-FFF2-40B4-BE49-F238E27FC236}">
                <a16:creationId xmlns:a16="http://schemas.microsoft.com/office/drawing/2014/main" id="{6F5118DF-EA15-E1A1-B265-5B3BE1E8FBDB}"/>
              </a:ext>
            </a:extLst>
          </p:cNvPr>
          <p:cNvSpPr/>
          <p:nvPr/>
        </p:nvSpPr>
        <p:spPr>
          <a:xfrm>
            <a:off x="4267200" y="11684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3A388B23-A90B-8221-E5F7-B4EFC3794092}"/>
              </a:ext>
            </a:extLst>
          </p:cNvPr>
          <p:cNvSpPr/>
          <p:nvPr/>
        </p:nvSpPr>
        <p:spPr>
          <a:xfrm>
            <a:off x="4267200" y="1168400"/>
            <a:ext cx="101600" cy="14224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E9C5FDF3-5C98-6D29-782A-ABE986D75006}"/>
              </a:ext>
            </a:extLst>
          </p:cNvPr>
          <p:cNvSpPr txBox="1"/>
          <p:nvPr/>
        </p:nvSpPr>
        <p:spPr>
          <a:xfrm>
            <a:off x="4521200" y="13462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Scene stack</a:t>
            </a:r>
          </a:p>
        </p:txBody>
      </p:sp>
      <p:sp>
        <p:nvSpPr>
          <p:cNvPr id="14" name="TextBox 13">
            <a:extLst>
              <a:ext uri="{FF2B5EF4-FFF2-40B4-BE49-F238E27FC236}">
                <a16:creationId xmlns:a16="http://schemas.microsoft.com/office/drawing/2014/main" id="{4D5C0088-8967-060C-099C-8FBC3B47B38D}"/>
              </a:ext>
            </a:extLst>
          </p:cNvPr>
          <p:cNvSpPr txBox="1"/>
          <p:nvPr/>
        </p:nvSpPr>
        <p:spPr>
          <a:xfrm>
            <a:off x="4521200" y="17018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SceneManager now supports change, push, and pop with automatic scene-owned input processor attachment.</a:t>
            </a:r>
            <a:endParaRPr lang="en-SG" sz="1100">
              <a:solidFill>
                <a:srgbClr val="C8D2E4"/>
              </a:solidFill>
              <a:latin typeface="Aptos" panose="020B0004020202020204" pitchFamily="34" charset="0"/>
            </a:endParaRPr>
          </a:p>
        </p:txBody>
      </p:sp>
      <p:sp>
        <p:nvSpPr>
          <p:cNvPr id="15" name="Rectangle 14">
            <a:extLst>
              <a:ext uri="{FF2B5EF4-FFF2-40B4-BE49-F238E27FC236}">
                <a16:creationId xmlns:a16="http://schemas.microsoft.com/office/drawing/2014/main" id="{6191BF0C-507A-259B-8145-B1E3E62D5BFA}"/>
              </a:ext>
            </a:extLst>
          </p:cNvPr>
          <p:cNvSpPr/>
          <p:nvPr/>
        </p:nvSpPr>
        <p:spPr>
          <a:xfrm>
            <a:off x="7924800" y="11684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AD0F65BC-1983-60F2-089B-8DF0900131C2}"/>
              </a:ext>
            </a:extLst>
          </p:cNvPr>
          <p:cNvSpPr/>
          <p:nvPr/>
        </p:nvSpPr>
        <p:spPr>
          <a:xfrm>
            <a:off x="7924800" y="1168400"/>
            <a:ext cx="101600" cy="1422400"/>
          </a:xfrm>
          <a:prstGeom prst="rect">
            <a:avLst/>
          </a:prstGeom>
          <a:solidFill>
            <a:srgbClr val="4AA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TextBox 16">
            <a:extLst>
              <a:ext uri="{FF2B5EF4-FFF2-40B4-BE49-F238E27FC236}">
                <a16:creationId xmlns:a16="http://schemas.microsoft.com/office/drawing/2014/main" id="{9E88B755-79D9-5A0B-38B3-435CFBA62CA8}"/>
              </a:ext>
            </a:extLst>
          </p:cNvPr>
          <p:cNvSpPr txBox="1"/>
          <p:nvPr/>
        </p:nvSpPr>
        <p:spPr>
          <a:xfrm>
            <a:off x="8178800" y="13462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Event bus</a:t>
            </a:r>
          </a:p>
        </p:txBody>
      </p:sp>
      <p:sp>
        <p:nvSpPr>
          <p:cNvPr id="18" name="TextBox 17">
            <a:extLst>
              <a:ext uri="{FF2B5EF4-FFF2-40B4-BE49-F238E27FC236}">
                <a16:creationId xmlns:a16="http://schemas.microsoft.com/office/drawing/2014/main" id="{0BE45C85-F87F-247E-3C2D-8D49A1C6BEEF}"/>
              </a:ext>
            </a:extLst>
          </p:cNvPr>
          <p:cNvSpPr txBox="1"/>
          <p:nvPr/>
        </p:nvSpPr>
        <p:spPr>
          <a:xfrm>
            <a:off x="8178800" y="17018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Scenes, collision handling, and audio can communicate through decoupled event publication and subscription.</a:t>
            </a:r>
            <a:endParaRPr lang="en-SG" sz="1100">
              <a:solidFill>
                <a:srgbClr val="C8D2E4"/>
              </a:solidFill>
              <a:latin typeface="Aptos" panose="020B0004020202020204" pitchFamily="34" charset="0"/>
            </a:endParaRPr>
          </a:p>
        </p:txBody>
      </p:sp>
      <p:sp>
        <p:nvSpPr>
          <p:cNvPr id="19" name="Rectangle 18">
            <a:extLst>
              <a:ext uri="{FF2B5EF4-FFF2-40B4-BE49-F238E27FC236}">
                <a16:creationId xmlns:a16="http://schemas.microsoft.com/office/drawing/2014/main" id="{3D95C31D-D06C-A959-0848-2AC8A59B2804}"/>
              </a:ext>
            </a:extLst>
          </p:cNvPr>
          <p:cNvSpPr/>
          <p:nvPr/>
        </p:nvSpPr>
        <p:spPr>
          <a:xfrm>
            <a:off x="609600" y="28702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8956B87B-EF0D-9E9B-0B62-D9BCBA1082DA}"/>
              </a:ext>
            </a:extLst>
          </p:cNvPr>
          <p:cNvSpPr/>
          <p:nvPr/>
        </p:nvSpPr>
        <p:spPr>
          <a:xfrm>
            <a:off x="609600" y="2870200"/>
            <a:ext cx="101600" cy="1422400"/>
          </a:xfrm>
          <a:prstGeom prst="rect">
            <a:avLst/>
          </a:prstGeom>
          <a:solidFill>
            <a:srgbClr val="DC6C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B2CA1442-A030-2169-5ADB-70A57CDE2831}"/>
              </a:ext>
            </a:extLst>
          </p:cNvPr>
          <p:cNvSpPr txBox="1"/>
          <p:nvPr/>
        </p:nvSpPr>
        <p:spPr>
          <a:xfrm>
            <a:off x="863600" y="30480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Flexible rendering</a:t>
            </a:r>
          </a:p>
        </p:txBody>
      </p:sp>
      <p:sp>
        <p:nvSpPr>
          <p:cNvPr id="22" name="TextBox 21">
            <a:extLst>
              <a:ext uri="{FF2B5EF4-FFF2-40B4-BE49-F238E27FC236}">
                <a16:creationId xmlns:a16="http://schemas.microsoft.com/office/drawing/2014/main" id="{C7BC98F3-E9A3-75DF-B59F-CF956A3F93F0}"/>
              </a:ext>
            </a:extLst>
          </p:cNvPr>
          <p:cNvSpPr txBox="1"/>
          <p:nvPr/>
        </p:nvSpPr>
        <p:spPr>
          <a:xfrm>
            <a:off x="863600" y="34036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RenderManager now supports sprite regions for abstract assets and shape fallbacks when no texture is available.</a:t>
            </a:r>
            <a:endParaRPr lang="en-SG" sz="1100">
              <a:solidFill>
                <a:srgbClr val="C8D2E4"/>
              </a:solidFill>
              <a:latin typeface="Aptos" panose="020B0004020202020204" pitchFamily="34" charset="0"/>
            </a:endParaRPr>
          </a:p>
        </p:txBody>
      </p:sp>
      <p:sp>
        <p:nvSpPr>
          <p:cNvPr id="23" name="Rectangle 22">
            <a:extLst>
              <a:ext uri="{FF2B5EF4-FFF2-40B4-BE49-F238E27FC236}">
                <a16:creationId xmlns:a16="http://schemas.microsoft.com/office/drawing/2014/main" id="{08A832F1-26B9-C252-2A14-C2DE722BE9EF}"/>
              </a:ext>
            </a:extLst>
          </p:cNvPr>
          <p:cNvSpPr/>
          <p:nvPr/>
        </p:nvSpPr>
        <p:spPr>
          <a:xfrm>
            <a:off x="4267200" y="28702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Rectangle 23">
            <a:extLst>
              <a:ext uri="{FF2B5EF4-FFF2-40B4-BE49-F238E27FC236}">
                <a16:creationId xmlns:a16="http://schemas.microsoft.com/office/drawing/2014/main" id="{B91A2968-4F47-3865-04EB-35559F020B78}"/>
              </a:ext>
            </a:extLst>
          </p:cNvPr>
          <p:cNvSpPr/>
          <p:nvPr/>
        </p:nvSpPr>
        <p:spPr>
          <a:xfrm>
            <a:off x="4267200" y="2870200"/>
            <a:ext cx="101600" cy="14224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TextBox 24">
            <a:extLst>
              <a:ext uri="{FF2B5EF4-FFF2-40B4-BE49-F238E27FC236}">
                <a16:creationId xmlns:a16="http://schemas.microsoft.com/office/drawing/2014/main" id="{8F2E30F4-E9FE-6D5F-0D1A-7A5217A72FD4}"/>
              </a:ext>
            </a:extLst>
          </p:cNvPr>
          <p:cNvSpPr txBox="1"/>
          <p:nvPr/>
        </p:nvSpPr>
        <p:spPr>
          <a:xfrm>
            <a:off x="4521200" y="30480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Better physics support</a:t>
            </a:r>
          </a:p>
        </p:txBody>
      </p:sp>
      <p:sp>
        <p:nvSpPr>
          <p:cNvPr id="26" name="TextBox 25">
            <a:extLst>
              <a:ext uri="{FF2B5EF4-FFF2-40B4-BE49-F238E27FC236}">
                <a16:creationId xmlns:a16="http://schemas.microsoft.com/office/drawing/2014/main" id="{AC513063-8318-E11C-4629-C0695482C557}"/>
              </a:ext>
            </a:extLst>
          </p:cNvPr>
          <p:cNvSpPr txBox="1"/>
          <p:nvPr/>
        </p:nvSpPr>
        <p:spPr>
          <a:xfrm>
            <a:off x="4521200" y="34036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Radius-based bodies and circle-aware overlap checks fit the sandbox domain better than box-only behaviour.</a:t>
            </a:r>
            <a:endParaRPr lang="en-SG" sz="1100">
              <a:solidFill>
                <a:srgbClr val="C8D2E4"/>
              </a:solidFill>
              <a:latin typeface="Aptos" panose="020B0004020202020204" pitchFamily="34" charset="0"/>
            </a:endParaRPr>
          </a:p>
        </p:txBody>
      </p:sp>
      <p:sp>
        <p:nvSpPr>
          <p:cNvPr id="27" name="Rectangle 26">
            <a:extLst>
              <a:ext uri="{FF2B5EF4-FFF2-40B4-BE49-F238E27FC236}">
                <a16:creationId xmlns:a16="http://schemas.microsoft.com/office/drawing/2014/main" id="{80F98653-91FD-412D-8D24-B2E86D8E87B6}"/>
              </a:ext>
            </a:extLst>
          </p:cNvPr>
          <p:cNvSpPr/>
          <p:nvPr/>
        </p:nvSpPr>
        <p:spPr>
          <a:xfrm>
            <a:off x="7924800" y="2870200"/>
            <a:ext cx="3327400" cy="1422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Rectangle 27">
            <a:extLst>
              <a:ext uri="{FF2B5EF4-FFF2-40B4-BE49-F238E27FC236}">
                <a16:creationId xmlns:a16="http://schemas.microsoft.com/office/drawing/2014/main" id="{560A5667-64A4-4EAE-C6A0-46E9CC075B74}"/>
              </a:ext>
            </a:extLst>
          </p:cNvPr>
          <p:cNvSpPr/>
          <p:nvPr/>
        </p:nvSpPr>
        <p:spPr>
          <a:xfrm>
            <a:off x="7924800" y="2870200"/>
            <a:ext cx="101600" cy="14224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TextBox 28">
            <a:extLst>
              <a:ext uri="{FF2B5EF4-FFF2-40B4-BE49-F238E27FC236}">
                <a16:creationId xmlns:a16="http://schemas.microsoft.com/office/drawing/2014/main" id="{36F8DE05-0309-A17B-8625-5CCC3C965171}"/>
              </a:ext>
            </a:extLst>
          </p:cNvPr>
          <p:cNvSpPr txBox="1"/>
          <p:nvPr/>
        </p:nvSpPr>
        <p:spPr>
          <a:xfrm>
            <a:off x="8178800" y="3048000"/>
            <a:ext cx="2921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Shared audio services</a:t>
            </a:r>
          </a:p>
        </p:txBody>
      </p:sp>
      <p:sp>
        <p:nvSpPr>
          <p:cNvPr id="30" name="TextBox 29">
            <a:extLst>
              <a:ext uri="{FF2B5EF4-FFF2-40B4-BE49-F238E27FC236}">
                <a16:creationId xmlns:a16="http://schemas.microsoft.com/office/drawing/2014/main" id="{C2E0A064-EDEC-0894-DC9B-E9A2990E0F07}"/>
              </a:ext>
            </a:extLst>
          </p:cNvPr>
          <p:cNvSpPr txBox="1"/>
          <p:nvPr/>
        </p:nvSpPr>
        <p:spPr>
          <a:xfrm>
            <a:off x="8178800" y="3403600"/>
            <a:ext cx="2921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SoundManager centralises music, SFX, and runtime volume control across scenes and sandbox events.</a:t>
            </a:r>
            <a:endParaRPr lang="en-SG" sz="1100">
              <a:solidFill>
                <a:srgbClr val="C8D2E4"/>
              </a:solidFill>
              <a:latin typeface="Aptos" panose="020B0004020202020204" pitchFamily="34" charset="0"/>
            </a:endParaRPr>
          </a:p>
        </p:txBody>
      </p:sp>
      <p:sp>
        <p:nvSpPr>
          <p:cNvPr id="31" name="TextBox 30">
            <a:extLst>
              <a:ext uri="{FF2B5EF4-FFF2-40B4-BE49-F238E27FC236}">
                <a16:creationId xmlns:a16="http://schemas.microsoft.com/office/drawing/2014/main" id="{9967608C-9274-02BD-37B2-385FF343F37E}"/>
              </a:ext>
            </a:extLst>
          </p:cNvPr>
          <p:cNvSpPr txBox="1"/>
          <p:nvPr/>
        </p:nvSpPr>
        <p:spPr>
          <a:xfrm>
            <a:off x="609600" y="4724400"/>
            <a:ext cx="10642600" cy="297517"/>
          </a:xfrm>
          <a:prstGeom prst="rect">
            <a:avLst/>
          </a:prstGeom>
          <a:noFill/>
        </p:spPr>
        <p:txBody>
          <a:bodyPr vert="horz" wrap="square" lIns="50800" tIns="25400" rIns="50800" bIns="25400" rtlCol="0">
            <a:spAutoFit/>
          </a:bodyPr>
          <a:lstStyle/>
          <a:p>
            <a:r>
              <a:rPr lang="en-US" sz="1600">
                <a:solidFill>
                  <a:srgbClr val="C8D2E4"/>
                </a:solidFill>
                <a:latin typeface="Aptos" panose="020B0004020202020204" pitchFamily="34" charset="0"/>
              </a:rPr>
              <a:t>Together, these changes move the engine from a Part 1 demo foundation toward a reusable application framework.</a:t>
            </a:r>
            <a:endParaRPr lang="en-SG" sz="1600">
              <a:solidFill>
                <a:srgbClr val="C8D2E4"/>
              </a:solidFill>
              <a:latin typeface="Aptos" panose="020B0004020202020204" pitchFamily="34" charset="0"/>
            </a:endParaRPr>
          </a:p>
        </p:txBody>
      </p:sp>
    </p:spTree>
    <p:extLst>
      <p:ext uri="{BB962C8B-B14F-4D97-AF65-F5344CB8AC3E}">
        <p14:creationId xmlns:p14="http://schemas.microsoft.com/office/powerpoint/2010/main" val="549947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2023CB-A4BF-39F5-3355-8CC9BF76E966}"/>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496D231B-DB30-F1D4-F17B-6D6F8F69E255}"/>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1C63CDD5-2321-C265-FE0A-C91A8D134DB4}"/>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OOP And Design Patterns</a:t>
            </a:r>
          </a:p>
        </p:txBody>
      </p:sp>
      <p:sp>
        <p:nvSpPr>
          <p:cNvPr id="5" name="TextBox 4">
            <a:extLst>
              <a:ext uri="{FF2B5EF4-FFF2-40B4-BE49-F238E27FC236}">
                <a16:creationId xmlns:a16="http://schemas.microsoft.com/office/drawing/2014/main" id="{F5E36577-130F-9E6D-6353-93E7C4793CE0}"/>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CC4C3E93-C17C-ED38-61DC-00E4D5946276}"/>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5</a:t>
            </a:r>
          </a:p>
        </p:txBody>
      </p:sp>
      <p:sp>
        <p:nvSpPr>
          <p:cNvPr id="7" name="Rectangle 6">
            <a:extLst>
              <a:ext uri="{FF2B5EF4-FFF2-40B4-BE49-F238E27FC236}">
                <a16:creationId xmlns:a16="http://schemas.microsoft.com/office/drawing/2014/main" id="{663C4E64-C349-CE68-D2AB-B5565C1B6BD9}"/>
              </a:ext>
            </a:extLst>
          </p:cNvPr>
          <p:cNvSpPr/>
          <p:nvPr/>
        </p:nvSpPr>
        <p:spPr>
          <a:xfrm>
            <a:off x="609600" y="1168400"/>
            <a:ext cx="3454400" cy="1219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AA037F43-25B2-5E75-024E-D1360C2CF6BE}"/>
              </a:ext>
            </a:extLst>
          </p:cNvPr>
          <p:cNvSpPr/>
          <p:nvPr/>
        </p:nvSpPr>
        <p:spPr>
          <a:xfrm>
            <a:off x="609600" y="1168400"/>
            <a:ext cx="101600" cy="12192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3DE4DFB9-A209-EBC4-E740-B3A3E7AEDCC4}"/>
              </a:ext>
            </a:extLst>
          </p:cNvPr>
          <p:cNvSpPr txBox="1"/>
          <p:nvPr/>
        </p:nvSpPr>
        <p:spPr>
          <a:xfrm>
            <a:off x="863600" y="1346200"/>
            <a:ext cx="3048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ECS composition</a:t>
            </a:r>
          </a:p>
        </p:txBody>
      </p:sp>
      <p:sp>
        <p:nvSpPr>
          <p:cNvPr id="10" name="TextBox 9">
            <a:extLst>
              <a:ext uri="{FF2B5EF4-FFF2-40B4-BE49-F238E27FC236}">
                <a16:creationId xmlns:a16="http://schemas.microsoft.com/office/drawing/2014/main" id="{F296F92B-D276-A721-5A1A-948DBFD33E39}"/>
              </a:ext>
            </a:extLst>
          </p:cNvPr>
          <p:cNvSpPr txBox="1"/>
          <p:nvPr/>
        </p:nvSpPr>
        <p:spPr>
          <a:xfrm>
            <a:off x="863600" y="1701800"/>
            <a:ext cx="3048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Entities gain behaviour through components such as transform, mass, radius, movement, and collision.</a:t>
            </a:r>
            <a:endParaRPr lang="en-SG" sz="1100">
              <a:solidFill>
                <a:srgbClr val="C8D2E4"/>
              </a:solidFill>
              <a:latin typeface="Aptos" panose="020B0004020202020204" pitchFamily="34" charset="0"/>
            </a:endParaRPr>
          </a:p>
        </p:txBody>
      </p:sp>
      <p:sp>
        <p:nvSpPr>
          <p:cNvPr id="11" name="Rectangle 10">
            <a:extLst>
              <a:ext uri="{FF2B5EF4-FFF2-40B4-BE49-F238E27FC236}">
                <a16:creationId xmlns:a16="http://schemas.microsoft.com/office/drawing/2014/main" id="{F04BEA47-6436-2F5D-8901-4A71FFDA307E}"/>
              </a:ext>
            </a:extLst>
          </p:cNvPr>
          <p:cNvSpPr/>
          <p:nvPr/>
        </p:nvSpPr>
        <p:spPr>
          <a:xfrm>
            <a:off x="4267200" y="1168400"/>
            <a:ext cx="3454400" cy="1219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D0BF3CE9-0251-3B89-C7B0-8C2D3845A132}"/>
              </a:ext>
            </a:extLst>
          </p:cNvPr>
          <p:cNvSpPr/>
          <p:nvPr/>
        </p:nvSpPr>
        <p:spPr>
          <a:xfrm>
            <a:off x="4267200" y="1168400"/>
            <a:ext cx="101600" cy="12192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D213DBFB-560B-019C-D720-FB64E1CFF872}"/>
              </a:ext>
            </a:extLst>
          </p:cNvPr>
          <p:cNvSpPr txBox="1"/>
          <p:nvPr/>
        </p:nvSpPr>
        <p:spPr>
          <a:xfrm>
            <a:off x="4521200" y="1346200"/>
            <a:ext cx="3048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Factory pattern</a:t>
            </a:r>
          </a:p>
        </p:txBody>
      </p:sp>
      <p:sp>
        <p:nvSpPr>
          <p:cNvPr id="14" name="TextBox 13">
            <a:extLst>
              <a:ext uri="{FF2B5EF4-FFF2-40B4-BE49-F238E27FC236}">
                <a16:creationId xmlns:a16="http://schemas.microsoft.com/office/drawing/2014/main" id="{BBEBD748-B4AD-53F9-0F8C-5CAAA544A995}"/>
              </a:ext>
            </a:extLst>
          </p:cNvPr>
          <p:cNvSpPr txBox="1"/>
          <p:nvPr/>
        </p:nvSpPr>
        <p:spPr>
          <a:xfrm>
            <a:off x="4521200" y="1701800"/>
            <a:ext cx="3048000" cy="389850"/>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CelestialEntityFactory builds stars and planets from shared validation and creation rules.</a:t>
            </a:r>
            <a:endParaRPr lang="en-SG" sz="1100">
              <a:solidFill>
                <a:srgbClr val="C8D2E4"/>
              </a:solidFill>
              <a:latin typeface="Aptos" panose="020B0004020202020204" pitchFamily="34" charset="0"/>
            </a:endParaRPr>
          </a:p>
        </p:txBody>
      </p:sp>
      <p:sp>
        <p:nvSpPr>
          <p:cNvPr id="15" name="Rectangle 14">
            <a:extLst>
              <a:ext uri="{FF2B5EF4-FFF2-40B4-BE49-F238E27FC236}">
                <a16:creationId xmlns:a16="http://schemas.microsoft.com/office/drawing/2014/main" id="{AE32A764-3244-384A-A62B-9E59D0D1EF0F}"/>
              </a:ext>
            </a:extLst>
          </p:cNvPr>
          <p:cNvSpPr/>
          <p:nvPr/>
        </p:nvSpPr>
        <p:spPr>
          <a:xfrm>
            <a:off x="7924800" y="1168400"/>
            <a:ext cx="3454400" cy="1219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9A403516-9B50-36A0-D49E-C2B0BD9B2DC9}"/>
              </a:ext>
            </a:extLst>
          </p:cNvPr>
          <p:cNvSpPr/>
          <p:nvPr/>
        </p:nvSpPr>
        <p:spPr>
          <a:xfrm>
            <a:off x="7924800" y="1168400"/>
            <a:ext cx="101600" cy="1219200"/>
          </a:xfrm>
          <a:prstGeom prst="rect">
            <a:avLst/>
          </a:prstGeom>
          <a:solidFill>
            <a:srgbClr val="4AA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TextBox 16">
            <a:extLst>
              <a:ext uri="{FF2B5EF4-FFF2-40B4-BE49-F238E27FC236}">
                <a16:creationId xmlns:a16="http://schemas.microsoft.com/office/drawing/2014/main" id="{7E3B64E9-2627-AE68-5702-31835956DE12}"/>
              </a:ext>
            </a:extLst>
          </p:cNvPr>
          <p:cNvSpPr txBox="1"/>
          <p:nvPr/>
        </p:nvSpPr>
        <p:spPr>
          <a:xfrm>
            <a:off x="8178800" y="1346200"/>
            <a:ext cx="3048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Strategy pattern</a:t>
            </a:r>
          </a:p>
        </p:txBody>
      </p:sp>
      <p:sp>
        <p:nvSpPr>
          <p:cNvPr id="18" name="TextBox 17">
            <a:extLst>
              <a:ext uri="{FF2B5EF4-FFF2-40B4-BE49-F238E27FC236}">
                <a16:creationId xmlns:a16="http://schemas.microsoft.com/office/drawing/2014/main" id="{AF8E4A59-AFE6-F09E-2B11-79F6C0D439E5}"/>
              </a:ext>
            </a:extLst>
          </p:cNvPr>
          <p:cNvSpPr txBox="1"/>
          <p:nvPr/>
        </p:nvSpPr>
        <p:spPr>
          <a:xfrm>
            <a:off x="8178800" y="1701800"/>
            <a:ext cx="3048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CollisionResolver swaps between merge mode and mutual destruction without changing the manager.</a:t>
            </a:r>
            <a:endParaRPr lang="en-SG" sz="1100">
              <a:solidFill>
                <a:srgbClr val="C8D2E4"/>
              </a:solidFill>
              <a:latin typeface="Aptos" panose="020B0004020202020204" pitchFamily="34" charset="0"/>
            </a:endParaRPr>
          </a:p>
        </p:txBody>
      </p:sp>
      <p:sp>
        <p:nvSpPr>
          <p:cNvPr id="19" name="Rectangle 18">
            <a:extLst>
              <a:ext uri="{FF2B5EF4-FFF2-40B4-BE49-F238E27FC236}">
                <a16:creationId xmlns:a16="http://schemas.microsoft.com/office/drawing/2014/main" id="{A3BFE56D-6B29-B0CD-1F6F-7F2F26E8190B}"/>
              </a:ext>
            </a:extLst>
          </p:cNvPr>
          <p:cNvSpPr/>
          <p:nvPr/>
        </p:nvSpPr>
        <p:spPr>
          <a:xfrm>
            <a:off x="609600" y="2616200"/>
            <a:ext cx="3454400" cy="1219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00C5AC6C-C0CB-F168-576F-11771E3A9A14}"/>
              </a:ext>
            </a:extLst>
          </p:cNvPr>
          <p:cNvSpPr/>
          <p:nvPr/>
        </p:nvSpPr>
        <p:spPr>
          <a:xfrm>
            <a:off x="609600" y="2616200"/>
            <a:ext cx="101600" cy="1219200"/>
          </a:xfrm>
          <a:prstGeom prst="rect">
            <a:avLst/>
          </a:prstGeom>
          <a:solidFill>
            <a:srgbClr val="DC6C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41F37D37-0E72-160E-9D38-C03D91430F7F}"/>
              </a:ext>
            </a:extLst>
          </p:cNvPr>
          <p:cNvSpPr txBox="1"/>
          <p:nvPr/>
        </p:nvSpPr>
        <p:spPr>
          <a:xfrm>
            <a:off x="863600" y="2794000"/>
            <a:ext cx="3048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Observer pattern</a:t>
            </a:r>
          </a:p>
        </p:txBody>
      </p:sp>
      <p:sp>
        <p:nvSpPr>
          <p:cNvPr id="22" name="TextBox 21">
            <a:extLst>
              <a:ext uri="{FF2B5EF4-FFF2-40B4-BE49-F238E27FC236}">
                <a16:creationId xmlns:a16="http://schemas.microsoft.com/office/drawing/2014/main" id="{10424A68-5BCE-19E1-7318-C80252BF4F42}"/>
              </a:ext>
            </a:extLst>
          </p:cNvPr>
          <p:cNvSpPr txBox="1"/>
          <p:nvPr/>
        </p:nvSpPr>
        <p:spPr>
          <a:xfrm>
            <a:off x="863600" y="3149600"/>
            <a:ext cx="3048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EventBus publishes scene, collision, and audio events without tight dependencies between services.</a:t>
            </a:r>
            <a:endParaRPr lang="en-SG" sz="1100">
              <a:solidFill>
                <a:srgbClr val="C8D2E4"/>
              </a:solidFill>
              <a:latin typeface="Aptos" panose="020B0004020202020204" pitchFamily="34" charset="0"/>
            </a:endParaRPr>
          </a:p>
        </p:txBody>
      </p:sp>
      <p:sp>
        <p:nvSpPr>
          <p:cNvPr id="23" name="Rectangle 22">
            <a:extLst>
              <a:ext uri="{FF2B5EF4-FFF2-40B4-BE49-F238E27FC236}">
                <a16:creationId xmlns:a16="http://schemas.microsoft.com/office/drawing/2014/main" id="{5439FED3-9E37-E5EC-15B9-A2C6645160AA}"/>
              </a:ext>
            </a:extLst>
          </p:cNvPr>
          <p:cNvSpPr/>
          <p:nvPr/>
        </p:nvSpPr>
        <p:spPr>
          <a:xfrm>
            <a:off x="4267200" y="2616200"/>
            <a:ext cx="3454400" cy="1219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Rectangle 23">
            <a:extLst>
              <a:ext uri="{FF2B5EF4-FFF2-40B4-BE49-F238E27FC236}">
                <a16:creationId xmlns:a16="http://schemas.microsoft.com/office/drawing/2014/main" id="{ADD11FFE-BAB8-D0DF-C338-052ADE179139}"/>
              </a:ext>
            </a:extLst>
          </p:cNvPr>
          <p:cNvSpPr/>
          <p:nvPr/>
        </p:nvSpPr>
        <p:spPr>
          <a:xfrm>
            <a:off x="4267200" y="2616200"/>
            <a:ext cx="101600" cy="12192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TextBox 24">
            <a:extLst>
              <a:ext uri="{FF2B5EF4-FFF2-40B4-BE49-F238E27FC236}">
                <a16:creationId xmlns:a16="http://schemas.microsoft.com/office/drawing/2014/main" id="{5481132B-AE00-08FC-22C8-FCD2351A167D}"/>
              </a:ext>
            </a:extLst>
          </p:cNvPr>
          <p:cNvSpPr txBox="1"/>
          <p:nvPr/>
        </p:nvSpPr>
        <p:spPr>
          <a:xfrm>
            <a:off x="4521200" y="2794000"/>
            <a:ext cx="30480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Adapter pattern</a:t>
            </a:r>
          </a:p>
        </p:txBody>
      </p:sp>
      <p:sp>
        <p:nvSpPr>
          <p:cNvPr id="26" name="TextBox 25">
            <a:extLst>
              <a:ext uri="{FF2B5EF4-FFF2-40B4-BE49-F238E27FC236}">
                <a16:creationId xmlns:a16="http://schemas.microsoft.com/office/drawing/2014/main" id="{DEBDC51D-E8F3-BC92-1098-D11B5122F430}"/>
              </a:ext>
            </a:extLst>
          </p:cNvPr>
          <p:cNvSpPr txBox="1"/>
          <p:nvPr/>
        </p:nvSpPr>
        <p:spPr>
          <a:xfrm>
            <a:off x="4521200" y="3149600"/>
            <a:ext cx="30480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SandboxNBodyAdapter converts ECS entities into lightweight prediction states for trajectory previews.</a:t>
            </a:r>
            <a:endParaRPr lang="en-SG" sz="1100">
              <a:solidFill>
                <a:srgbClr val="C8D2E4"/>
              </a:solidFill>
              <a:latin typeface="Aptos" panose="020B0004020202020204" pitchFamily="34" charset="0"/>
            </a:endParaRPr>
          </a:p>
        </p:txBody>
      </p:sp>
      <p:sp>
        <p:nvSpPr>
          <p:cNvPr id="27" name="Rectangle 26">
            <a:extLst>
              <a:ext uri="{FF2B5EF4-FFF2-40B4-BE49-F238E27FC236}">
                <a16:creationId xmlns:a16="http://schemas.microsoft.com/office/drawing/2014/main" id="{CC20FDB7-EDF8-B25D-3E68-13D1E2FDCEE7}"/>
              </a:ext>
            </a:extLst>
          </p:cNvPr>
          <p:cNvSpPr/>
          <p:nvPr/>
        </p:nvSpPr>
        <p:spPr>
          <a:xfrm>
            <a:off x="7924800" y="2616200"/>
            <a:ext cx="3454400" cy="2032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TextBox 27">
            <a:extLst>
              <a:ext uri="{FF2B5EF4-FFF2-40B4-BE49-F238E27FC236}">
                <a16:creationId xmlns:a16="http://schemas.microsoft.com/office/drawing/2014/main" id="{4C6DC5E7-C728-0BAD-0E3D-711AFC11EE52}"/>
              </a:ext>
            </a:extLst>
          </p:cNvPr>
          <p:cNvSpPr txBox="1"/>
          <p:nvPr/>
        </p:nvSpPr>
        <p:spPr>
          <a:xfrm>
            <a:off x="8204200" y="2844800"/>
            <a:ext cx="2895600" cy="297517"/>
          </a:xfrm>
          <a:prstGeom prst="rect">
            <a:avLst/>
          </a:prstGeom>
          <a:noFill/>
        </p:spPr>
        <p:txBody>
          <a:bodyPr vert="horz" wrap="square" lIns="50800" tIns="25400" rIns="50800" bIns="25400" rtlCol="0">
            <a:spAutoFit/>
          </a:bodyPr>
          <a:lstStyle/>
          <a:p>
            <a:r>
              <a:rPr lang="en-SG" sz="1600" b="1">
                <a:solidFill>
                  <a:srgbClr val="ECC355"/>
                </a:solidFill>
                <a:latin typeface="Aptos Display" panose="020B0004020202020204" pitchFamily="34" charset="0"/>
              </a:rPr>
              <a:t>SOLID in practice</a:t>
            </a:r>
          </a:p>
        </p:txBody>
      </p:sp>
      <p:sp>
        <p:nvSpPr>
          <p:cNvPr id="29" name="TextBox 28">
            <a:extLst>
              <a:ext uri="{FF2B5EF4-FFF2-40B4-BE49-F238E27FC236}">
                <a16:creationId xmlns:a16="http://schemas.microsoft.com/office/drawing/2014/main" id="{CEFABD40-B4EF-59A6-05CE-64295258F8BB}"/>
              </a:ext>
            </a:extLst>
          </p:cNvPr>
          <p:cNvSpPr txBox="1"/>
          <p:nvPr/>
        </p:nvSpPr>
        <p:spPr>
          <a:xfrm>
            <a:off x="8204200" y="3200400"/>
            <a:ext cx="2794000" cy="1051570"/>
          </a:xfrm>
          <a:prstGeom prst="rect">
            <a:avLst/>
          </a:prstGeom>
          <a:noFill/>
        </p:spPr>
        <p:txBody>
          <a:bodyPr vert="horz" wrap="square" lIns="50800" tIns="25400" rIns="50800" bIns="25400" rtlCol="0">
            <a:spAutoFit/>
          </a:bodyPr>
          <a:lstStyle/>
          <a:p>
            <a:r>
              <a:rPr lang="en-US" sz="1300">
                <a:solidFill>
                  <a:srgbClr val="F5F7FA"/>
                </a:solidFill>
                <a:latin typeface="Aptos" panose="020B0004020202020204" pitchFamily="34" charset="0"/>
              </a:rPr>
              <a:t>Single-purpose managers, swappable behaviours, and a clean abstract-versus-concrete package split help keep the system easier to extend and test.</a:t>
            </a:r>
            <a:endParaRPr lang="en-SG" sz="1300">
              <a:solidFill>
                <a:srgbClr val="F5F7FA"/>
              </a:solidFill>
              <a:latin typeface="Aptos" panose="020B0004020202020204" pitchFamily="34" charset="0"/>
            </a:endParaRPr>
          </a:p>
        </p:txBody>
      </p:sp>
      <p:pic>
        <p:nvPicPr>
          <p:cNvPr id="31" name="Picture 30">
            <a:extLst>
              <a:ext uri="{FF2B5EF4-FFF2-40B4-BE49-F238E27FC236}">
                <a16:creationId xmlns:a16="http://schemas.microsoft.com/office/drawing/2014/main" id="{96170D02-68BD-EEB6-9D3F-518C291779A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54732" y="4140200"/>
            <a:ext cx="3221736" cy="1981200"/>
          </a:xfrm>
          <a:prstGeom prst="rect">
            <a:avLst/>
          </a:prstGeom>
          <a:ln w="15240">
            <a:solidFill>
              <a:srgbClr val="1F3459"/>
            </a:solidFill>
          </a:ln>
        </p:spPr>
      </p:pic>
    </p:spTree>
    <p:extLst>
      <p:ext uri="{BB962C8B-B14F-4D97-AF65-F5344CB8AC3E}">
        <p14:creationId xmlns:p14="http://schemas.microsoft.com/office/powerpoint/2010/main" val="87629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F3A118-9026-0802-556B-AB0EF2DE85B0}"/>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516D7D74-E53E-98BB-570B-16A1095FC3A1}"/>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965440B1-86D1-897D-2C3F-362DA83217B4}"/>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Key Sandbox Features</a:t>
            </a:r>
          </a:p>
        </p:txBody>
      </p:sp>
      <p:sp>
        <p:nvSpPr>
          <p:cNvPr id="5" name="TextBox 4">
            <a:extLst>
              <a:ext uri="{FF2B5EF4-FFF2-40B4-BE49-F238E27FC236}">
                <a16:creationId xmlns:a16="http://schemas.microsoft.com/office/drawing/2014/main" id="{5F9AD944-9D4D-5771-0506-62B29B3D3BF9}"/>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68F6D40B-05EB-638D-10B5-7A46896300CB}"/>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6</a:t>
            </a:r>
          </a:p>
        </p:txBody>
      </p:sp>
      <p:sp>
        <p:nvSpPr>
          <p:cNvPr id="7" name="TextBox 6">
            <a:extLst>
              <a:ext uri="{FF2B5EF4-FFF2-40B4-BE49-F238E27FC236}">
                <a16:creationId xmlns:a16="http://schemas.microsoft.com/office/drawing/2014/main" id="{92541C3C-3557-DB1A-1F57-5063041B1FCB}"/>
              </a:ext>
            </a:extLst>
          </p:cNvPr>
          <p:cNvSpPr txBox="1"/>
          <p:nvPr/>
        </p:nvSpPr>
        <p:spPr>
          <a:xfrm>
            <a:off x="609600" y="1168400"/>
            <a:ext cx="5207000" cy="371383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Blueprint mode previews motion before the live simulation starts.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Users can spawn stars and planets with custom mass, radius, position, and velocity.</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Clicking a body loads it into the control panel for live editing.</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 educational HUD shows speed, acceleration, nearest star distance, and orbit type.</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 pause scene controls audio, collision mode, velocity vectors, and navigation.</a:t>
            </a:r>
            <a:endParaRPr lang="en-SG" sz="1700">
              <a:solidFill>
                <a:srgbClr val="F5F7FA"/>
              </a:solidFill>
              <a:latin typeface="Aptos" panose="020B0004020202020204" pitchFamily="34" charset="0"/>
            </a:endParaRPr>
          </a:p>
        </p:txBody>
      </p:sp>
      <p:sp>
        <p:nvSpPr>
          <p:cNvPr id="8" name="Rectangle 7">
            <a:extLst>
              <a:ext uri="{FF2B5EF4-FFF2-40B4-BE49-F238E27FC236}">
                <a16:creationId xmlns:a16="http://schemas.microsoft.com/office/drawing/2014/main" id="{2642B3EE-525E-1823-46FD-D77BF48CEFEB}"/>
              </a:ext>
            </a:extLst>
          </p:cNvPr>
          <p:cNvSpPr/>
          <p:nvPr/>
        </p:nvSpPr>
        <p:spPr>
          <a:xfrm>
            <a:off x="6350000" y="1168400"/>
            <a:ext cx="4572000" cy="20828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39A26727-37BA-9A57-4879-0F07AA6C0949}"/>
              </a:ext>
            </a:extLst>
          </p:cNvPr>
          <p:cNvSpPr txBox="1"/>
          <p:nvPr/>
        </p:nvSpPr>
        <p:spPr>
          <a:xfrm>
            <a:off x="6629400" y="1371600"/>
            <a:ext cx="4013200" cy="282129"/>
          </a:xfrm>
          <a:prstGeom prst="rect">
            <a:avLst/>
          </a:prstGeom>
          <a:noFill/>
        </p:spPr>
        <p:txBody>
          <a:bodyPr vert="horz" wrap="square" lIns="50800" tIns="25400" rIns="50800" bIns="25400" rtlCol="0">
            <a:spAutoFit/>
          </a:bodyPr>
          <a:lstStyle/>
          <a:p>
            <a:r>
              <a:rPr lang="en-US" sz="1500" b="1">
                <a:solidFill>
                  <a:srgbClr val="ECC355"/>
                </a:solidFill>
                <a:latin typeface="Aptos Display" panose="020B0004020202020204" pitchFamily="34" charset="0"/>
              </a:rPr>
              <a:t>Visual assets used by the sandbox</a:t>
            </a:r>
            <a:endParaRPr lang="en-SG" sz="1500" b="1">
              <a:solidFill>
                <a:srgbClr val="ECC355"/>
              </a:solidFill>
              <a:latin typeface="Aptos Display" panose="020B0004020202020204" pitchFamily="34" charset="0"/>
            </a:endParaRPr>
          </a:p>
        </p:txBody>
      </p:sp>
      <p:pic>
        <p:nvPicPr>
          <p:cNvPr id="11" name="Picture 10">
            <a:extLst>
              <a:ext uri="{FF2B5EF4-FFF2-40B4-BE49-F238E27FC236}">
                <a16:creationId xmlns:a16="http://schemas.microsoft.com/office/drawing/2014/main" id="{1F3D2BB5-2B1A-B0B7-FD26-D58A07EEEF7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83500" y="1727200"/>
            <a:ext cx="1905000" cy="1270000"/>
          </a:xfrm>
          <a:prstGeom prst="rect">
            <a:avLst/>
          </a:prstGeom>
          <a:ln w="15240">
            <a:solidFill>
              <a:srgbClr val="1F3459"/>
            </a:solidFill>
          </a:ln>
        </p:spPr>
      </p:pic>
      <p:sp>
        <p:nvSpPr>
          <p:cNvPr id="12" name="Rectangle 11">
            <a:extLst>
              <a:ext uri="{FF2B5EF4-FFF2-40B4-BE49-F238E27FC236}">
                <a16:creationId xmlns:a16="http://schemas.microsoft.com/office/drawing/2014/main" id="{C4A1A154-13AD-FCF4-99E0-9F61F783E7D1}"/>
              </a:ext>
            </a:extLst>
          </p:cNvPr>
          <p:cNvSpPr/>
          <p:nvPr/>
        </p:nvSpPr>
        <p:spPr>
          <a:xfrm>
            <a:off x="6350000" y="3479800"/>
            <a:ext cx="4572000" cy="2159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6750F27F-5BCB-CDEF-79ED-5670A0DD3703}"/>
              </a:ext>
            </a:extLst>
          </p:cNvPr>
          <p:cNvSpPr txBox="1"/>
          <p:nvPr/>
        </p:nvSpPr>
        <p:spPr>
          <a:xfrm>
            <a:off x="6629400" y="3683000"/>
            <a:ext cx="4013200" cy="282129"/>
          </a:xfrm>
          <a:prstGeom prst="rect">
            <a:avLst/>
          </a:prstGeom>
          <a:noFill/>
        </p:spPr>
        <p:txBody>
          <a:bodyPr vert="horz" wrap="square" lIns="50800" tIns="25400" rIns="50800" bIns="25400" rtlCol="0">
            <a:spAutoFit/>
          </a:bodyPr>
          <a:lstStyle/>
          <a:p>
            <a:r>
              <a:rPr lang="en-SG" sz="1500" b="1">
                <a:solidFill>
                  <a:srgbClr val="ECC355"/>
                </a:solidFill>
                <a:latin typeface="Aptos Display" panose="020B0004020202020204" pitchFamily="34" charset="0"/>
              </a:rPr>
              <a:t>Sandbox atmosphere and presentation</a:t>
            </a:r>
          </a:p>
        </p:txBody>
      </p:sp>
      <p:pic>
        <p:nvPicPr>
          <p:cNvPr id="15" name="Picture 14">
            <a:extLst>
              <a:ext uri="{FF2B5EF4-FFF2-40B4-BE49-F238E27FC236}">
                <a16:creationId xmlns:a16="http://schemas.microsoft.com/office/drawing/2014/main" id="{9E290507-DDCA-A051-337A-5568D2CE799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950200" y="4038600"/>
            <a:ext cx="1371600" cy="1371600"/>
          </a:xfrm>
          <a:prstGeom prst="rect">
            <a:avLst/>
          </a:prstGeom>
          <a:ln w="15240">
            <a:solidFill>
              <a:srgbClr val="1F3459"/>
            </a:solidFill>
          </a:ln>
        </p:spPr>
      </p:pic>
    </p:spTree>
    <p:extLst>
      <p:ext uri="{BB962C8B-B14F-4D97-AF65-F5344CB8AC3E}">
        <p14:creationId xmlns:p14="http://schemas.microsoft.com/office/powerpoint/2010/main" val="3580513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B79EAF-77A2-6C37-7356-B92CF6B6CCFC}"/>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8A65B4E3-7161-B43F-93DE-46CBE7B883BE}"/>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EA5A12DE-9854-ECCD-F271-09A01488F63B}"/>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US" sz="2600" b="1">
                <a:solidFill>
                  <a:srgbClr val="F5F7FA"/>
                </a:solidFill>
                <a:latin typeface="Aptos Display" panose="020B0004020202020204" pitchFamily="34" charset="0"/>
              </a:rPr>
              <a:t>How A Simulation Step Works</a:t>
            </a:r>
            <a:endParaRPr lang="en-SG" sz="2600" b="1">
              <a:solidFill>
                <a:srgbClr val="F5F7FA"/>
              </a:solidFill>
              <a:latin typeface="Aptos Display" panose="020B0004020202020204" pitchFamily="34" charset="0"/>
            </a:endParaRPr>
          </a:p>
        </p:txBody>
      </p:sp>
      <p:sp>
        <p:nvSpPr>
          <p:cNvPr id="5" name="TextBox 4">
            <a:extLst>
              <a:ext uri="{FF2B5EF4-FFF2-40B4-BE49-F238E27FC236}">
                <a16:creationId xmlns:a16="http://schemas.microsoft.com/office/drawing/2014/main" id="{5860E9D8-C3FE-96D6-4744-A20CF39E12CC}"/>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E344B036-3D8B-26E8-4ABB-350312788070}"/>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7</a:t>
            </a:r>
          </a:p>
        </p:txBody>
      </p:sp>
      <p:sp>
        <p:nvSpPr>
          <p:cNvPr id="7" name="Rectangle 6">
            <a:extLst>
              <a:ext uri="{FF2B5EF4-FFF2-40B4-BE49-F238E27FC236}">
                <a16:creationId xmlns:a16="http://schemas.microsoft.com/office/drawing/2014/main" id="{A4AE9910-7292-4B0E-A682-1840AF7CE150}"/>
              </a:ext>
            </a:extLst>
          </p:cNvPr>
          <p:cNvSpPr/>
          <p:nvPr/>
        </p:nvSpPr>
        <p:spPr>
          <a:xfrm>
            <a:off x="609600" y="1625600"/>
            <a:ext cx="2413000" cy="13208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9E6863CD-489D-DE9E-A0BE-4F37CF2C2C5A}"/>
              </a:ext>
            </a:extLst>
          </p:cNvPr>
          <p:cNvSpPr/>
          <p:nvPr/>
        </p:nvSpPr>
        <p:spPr>
          <a:xfrm>
            <a:off x="609600" y="1625600"/>
            <a:ext cx="101600" cy="1320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90D9A6B1-1204-55BB-09F7-A00C77ABFD1A}"/>
              </a:ext>
            </a:extLst>
          </p:cNvPr>
          <p:cNvSpPr txBox="1"/>
          <p:nvPr/>
        </p:nvSpPr>
        <p:spPr>
          <a:xfrm>
            <a:off x="863600" y="1803400"/>
            <a:ext cx="20066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1. Input + scene logic</a:t>
            </a:r>
          </a:p>
        </p:txBody>
      </p:sp>
      <p:sp>
        <p:nvSpPr>
          <p:cNvPr id="10" name="TextBox 9">
            <a:extLst>
              <a:ext uri="{FF2B5EF4-FFF2-40B4-BE49-F238E27FC236}">
                <a16:creationId xmlns:a16="http://schemas.microsoft.com/office/drawing/2014/main" id="{48313FBA-F8DF-5B0A-299C-3EDFEB32D9FA}"/>
              </a:ext>
            </a:extLst>
          </p:cNvPr>
          <p:cNvSpPr txBox="1"/>
          <p:nvPr/>
        </p:nvSpPr>
        <p:spPr>
          <a:xfrm>
            <a:off x="863600" y="2159000"/>
            <a:ext cx="20066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Process UI events, edits, mode switches, and pause controls before the systems run.</a:t>
            </a:r>
            <a:endParaRPr lang="en-SG" sz="1100">
              <a:solidFill>
                <a:srgbClr val="C8D2E4"/>
              </a:solidFill>
              <a:latin typeface="Aptos" panose="020B0004020202020204" pitchFamily="34" charset="0"/>
            </a:endParaRPr>
          </a:p>
        </p:txBody>
      </p:sp>
      <p:sp>
        <p:nvSpPr>
          <p:cNvPr id="11" name="Rectangle 10">
            <a:extLst>
              <a:ext uri="{FF2B5EF4-FFF2-40B4-BE49-F238E27FC236}">
                <a16:creationId xmlns:a16="http://schemas.microsoft.com/office/drawing/2014/main" id="{B8A36E62-1DE7-DF21-5AF4-166CC91EA4CF}"/>
              </a:ext>
            </a:extLst>
          </p:cNvPr>
          <p:cNvSpPr/>
          <p:nvPr/>
        </p:nvSpPr>
        <p:spPr>
          <a:xfrm>
            <a:off x="3429000" y="1625600"/>
            <a:ext cx="2413000" cy="13208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68A004EA-0667-AFA5-646D-AB5A462E027B}"/>
              </a:ext>
            </a:extLst>
          </p:cNvPr>
          <p:cNvSpPr/>
          <p:nvPr/>
        </p:nvSpPr>
        <p:spPr>
          <a:xfrm>
            <a:off x="3429000" y="1625600"/>
            <a:ext cx="101600" cy="13208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A91D2DAC-2883-6029-BA83-B2F13A504B47}"/>
              </a:ext>
            </a:extLst>
          </p:cNvPr>
          <p:cNvSpPr txBox="1"/>
          <p:nvPr/>
        </p:nvSpPr>
        <p:spPr>
          <a:xfrm>
            <a:off x="3683000" y="1803400"/>
            <a:ext cx="20066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2. GravityManager</a:t>
            </a:r>
          </a:p>
        </p:txBody>
      </p:sp>
      <p:sp>
        <p:nvSpPr>
          <p:cNvPr id="14" name="TextBox 13">
            <a:extLst>
              <a:ext uri="{FF2B5EF4-FFF2-40B4-BE49-F238E27FC236}">
                <a16:creationId xmlns:a16="http://schemas.microsoft.com/office/drawing/2014/main" id="{733F5920-5052-C9F9-C3EA-251105935FE1}"/>
              </a:ext>
            </a:extLst>
          </p:cNvPr>
          <p:cNvSpPr txBox="1"/>
          <p:nvPr/>
        </p:nvSpPr>
        <p:spPr>
          <a:xfrm>
            <a:off x="3683000" y="2159000"/>
            <a:ext cx="20066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Compute acceleration contributions from all active massive bodies.</a:t>
            </a:r>
            <a:endParaRPr lang="en-SG" sz="1100">
              <a:solidFill>
                <a:srgbClr val="C8D2E4"/>
              </a:solidFill>
              <a:latin typeface="Aptos" panose="020B0004020202020204" pitchFamily="34" charset="0"/>
            </a:endParaRPr>
          </a:p>
        </p:txBody>
      </p:sp>
      <p:sp>
        <p:nvSpPr>
          <p:cNvPr id="15" name="Rectangle 14">
            <a:extLst>
              <a:ext uri="{FF2B5EF4-FFF2-40B4-BE49-F238E27FC236}">
                <a16:creationId xmlns:a16="http://schemas.microsoft.com/office/drawing/2014/main" id="{C7A98A9B-9792-0FA3-02DA-EE65BADF9F1A}"/>
              </a:ext>
            </a:extLst>
          </p:cNvPr>
          <p:cNvSpPr/>
          <p:nvPr/>
        </p:nvSpPr>
        <p:spPr>
          <a:xfrm>
            <a:off x="6248400" y="1625600"/>
            <a:ext cx="2413000" cy="13208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2D869429-8809-3356-CD9F-A4DCE95B476B}"/>
              </a:ext>
            </a:extLst>
          </p:cNvPr>
          <p:cNvSpPr/>
          <p:nvPr/>
        </p:nvSpPr>
        <p:spPr>
          <a:xfrm>
            <a:off x="6248400" y="1625600"/>
            <a:ext cx="101600" cy="1320800"/>
          </a:xfrm>
          <a:prstGeom prst="rect">
            <a:avLst/>
          </a:prstGeom>
          <a:solidFill>
            <a:srgbClr val="4AA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TextBox 16">
            <a:extLst>
              <a:ext uri="{FF2B5EF4-FFF2-40B4-BE49-F238E27FC236}">
                <a16:creationId xmlns:a16="http://schemas.microsoft.com/office/drawing/2014/main" id="{8BA36D07-1FC9-3ADD-219F-678901C68FE9}"/>
              </a:ext>
            </a:extLst>
          </p:cNvPr>
          <p:cNvSpPr txBox="1"/>
          <p:nvPr/>
        </p:nvSpPr>
        <p:spPr>
          <a:xfrm>
            <a:off x="6502400" y="1803400"/>
            <a:ext cx="20066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3. MovementManager</a:t>
            </a:r>
          </a:p>
        </p:txBody>
      </p:sp>
      <p:sp>
        <p:nvSpPr>
          <p:cNvPr id="18" name="TextBox 17">
            <a:extLst>
              <a:ext uri="{FF2B5EF4-FFF2-40B4-BE49-F238E27FC236}">
                <a16:creationId xmlns:a16="http://schemas.microsoft.com/office/drawing/2014/main" id="{D11D3516-C1A8-5D3B-20E9-33586C331876}"/>
              </a:ext>
            </a:extLst>
          </p:cNvPr>
          <p:cNvSpPr txBox="1"/>
          <p:nvPr/>
        </p:nvSpPr>
        <p:spPr>
          <a:xfrm>
            <a:off x="6502400" y="2159000"/>
            <a:ext cx="20066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Apply updated velocity and move entities to their next positions.</a:t>
            </a:r>
            <a:endParaRPr lang="en-SG" sz="1100">
              <a:solidFill>
                <a:srgbClr val="C8D2E4"/>
              </a:solidFill>
              <a:latin typeface="Aptos" panose="020B0004020202020204" pitchFamily="34" charset="0"/>
            </a:endParaRPr>
          </a:p>
        </p:txBody>
      </p:sp>
      <p:sp>
        <p:nvSpPr>
          <p:cNvPr id="19" name="Rectangle 18">
            <a:extLst>
              <a:ext uri="{FF2B5EF4-FFF2-40B4-BE49-F238E27FC236}">
                <a16:creationId xmlns:a16="http://schemas.microsoft.com/office/drawing/2014/main" id="{B52E554E-E955-F6FC-0C6A-3A3F1F6376A9}"/>
              </a:ext>
            </a:extLst>
          </p:cNvPr>
          <p:cNvSpPr/>
          <p:nvPr/>
        </p:nvSpPr>
        <p:spPr>
          <a:xfrm>
            <a:off x="9067800" y="1625600"/>
            <a:ext cx="2413000" cy="13208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3746FB17-66CC-8909-DD01-C0AB3647BAE3}"/>
              </a:ext>
            </a:extLst>
          </p:cNvPr>
          <p:cNvSpPr/>
          <p:nvPr/>
        </p:nvSpPr>
        <p:spPr>
          <a:xfrm>
            <a:off x="9067800" y="1625600"/>
            <a:ext cx="101600" cy="1320800"/>
          </a:xfrm>
          <a:prstGeom prst="rect">
            <a:avLst/>
          </a:prstGeom>
          <a:solidFill>
            <a:srgbClr val="DC6C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E5579C49-5544-641E-8D83-08C470A77E27}"/>
              </a:ext>
            </a:extLst>
          </p:cNvPr>
          <p:cNvSpPr txBox="1"/>
          <p:nvPr/>
        </p:nvSpPr>
        <p:spPr>
          <a:xfrm>
            <a:off x="9321800" y="1803400"/>
            <a:ext cx="20066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4. CollisionManager</a:t>
            </a:r>
          </a:p>
        </p:txBody>
      </p:sp>
      <p:sp>
        <p:nvSpPr>
          <p:cNvPr id="22" name="TextBox 21">
            <a:extLst>
              <a:ext uri="{FF2B5EF4-FFF2-40B4-BE49-F238E27FC236}">
                <a16:creationId xmlns:a16="http://schemas.microsoft.com/office/drawing/2014/main" id="{6C4FB079-4215-3CFA-98BE-82F424AAE7A7}"/>
              </a:ext>
            </a:extLst>
          </p:cNvPr>
          <p:cNvSpPr txBox="1"/>
          <p:nvPr/>
        </p:nvSpPr>
        <p:spPr>
          <a:xfrm>
            <a:off x="9321800" y="2159000"/>
            <a:ext cx="20066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Detect overlap and hand resolution to the currently active collision strategy.</a:t>
            </a:r>
            <a:endParaRPr lang="en-SG" sz="1100">
              <a:solidFill>
                <a:srgbClr val="C8D2E4"/>
              </a:solidFill>
              <a:latin typeface="Aptos" panose="020B0004020202020204" pitchFamily="34" charset="0"/>
            </a:endParaRPr>
          </a:p>
        </p:txBody>
      </p:sp>
      <p:sp>
        <p:nvSpPr>
          <p:cNvPr id="23" name="Rectangle 22">
            <a:extLst>
              <a:ext uri="{FF2B5EF4-FFF2-40B4-BE49-F238E27FC236}">
                <a16:creationId xmlns:a16="http://schemas.microsoft.com/office/drawing/2014/main" id="{2CC337E8-20D6-109D-FACA-C7720A806407}"/>
              </a:ext>
            </a:extLst>
          </p:cNvPr>
          <p:cNvSpPr/>
          <p:nvPr/>
        </p:nvSpPr>
        <p:spPr>
          <a:xfrm>
            <a:off x="3073400" y="2133600"/>
            <a:ext cx="228600" cy="50800"/>
          </a:xfrm>
          <a:prstGeom prst="rect">
            <a:avLst/>
          </a:prstGeom>
          <a:solidFill>
            <a:srgbClr val="C8D2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Rectangle 23">
            <a:extLst>
              <a:ext uri="{FF2B5EF4-FFF2-40B4-BE49-F238E27FC236}">
                <a16:creationId xmlns:a16="http://schemas.microsoft.com/office/drawing/2014/main" id="{69115216-2DFC-67C0-F4E4-E0CCBC7AD761}"/>
              </a:ext>
            </a:extLst>
          </p:cNvPr>
          <p:cNvSpPr/>
          <p:nvPr/>
        </p:nvSpPr>
        <p:spPr>
          <a:xfrm>
            <a:off x="5892800" y="2133600"/>
            <a:ext cx="228600" cy="50800"/>
          </a:xfrm>
          <a:prstGeom prst="rect">
            <a:avLst/>
          </a:prstGeom>
          <a:solidFill>
            <a:srgbClr val="C8D2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Rectangle 24">
            <a:extLst>
              <a:ext uri="{FF2B5EF4-FFF2-40B4-BE49-F238E27FC236}">
                <a16:creationId xmlns:a16="http://schemas.microsoft.com/office/drawing/2014/main" id="{7804570C-60E8-2B9F-D2BD-282475B81D3E}"/>
              </a:ext>
            </a:extLst>
          </p:cNvPr>
          <p:cNvSpPr/>
          <p:nvPr/>
        </p:nvSpPr>
        <p:spPr>
          <a:xfrm>
            <a:off x="8712200" y="2133600"/>
            <a:ext cx="228600" cy="50800"/>
          </a:xfrm>
          <a:prstGeom prst="rect">
            <a:avLst/>
          </a:prstGeom>
          <a:solidFill>
            <a:srgbClr val="C8D2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Rectangle 25">
            <a:extLst>
              <a:ext uri="{FF2B5EF4-FFF2-40B4-BE49-F238E27FC236}">
                <a16:creationId xmlns:a16="http://schemas.microsoft.com/office/drawing/2014/main" id="{1E38630A-F188-7558-D63E-EC187B7AB36C}"/>
              </a:ext>
            </a:extLst>
          </p:cNvPr>
          <p:cNvSpPr/>
          <p:nvPr/>
        </p:nvSpPr>
        <p:spPr>
          <a:xfrm>
            <a:off x="1219200" y="3581400"/>
            <a:ext cx="9753600" cy="14986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TextBox 26">
            <a:extLst>
              <a:ext uri="{FF2B5EF4-FFF2-40B4-BE49-F238E27FC236}">
                <a16:creationId xmlns:a16="http://schemas.microsoft.com/office/drawing/2014/main" id="{B038ECB4-9C08-7BE6-57A1-91158FB1B556}"/>
              </a:ext>
            </a:extLst>
          </p:cNvPr>
          <p:cNvSpPr txBox="1"/>
          <p:nvPr/>
        </p:nvSpPr>
        <p:spPr>
          <a:xfrm>
            <a:off x="1549400" y="3835400"/>
            <a:ext cx="9093200" cy="743793"/>
          </a:xfrm>
          <a:prstGeom prst="rect">
            <a:avLst/>
          </a:prstGeom>
          <a:noFill/>
        </p:spPr>
        <p:txBody>
          <a:bodyPr vert="horz" wrap="square" lIns="50800" tIns="25400" rIns="50800" bIns="25400" rtlCol="0">
            <a:spAutoFit/>
          </a:bodyPr>
          <a:lstStyle/>
          <a:p>
            <a:r>
              <a:rPr lang="en-US" sz="1500">
                <a:solidFill>
                  <a:srgbClr val="F5F7FA"/>
                </a:solidFill>
                <a:latin typeface="Aptos" panose="020B0004020202020204" pitchFamily="34" charset="0"/>
              </a:rPr>
              <a:t>In blueprint mode, the trajectory service copies the current entities into simplified N-body states and predicts sampled future paths. At the same time, the educational HUD interprets outcomes like Free Drift, Near Circular, Elliptical, and Escape to help users understand what they are seeing.</a:t>
            </a:r>
            <a:endParaRPr lang="en-SG" sz="1500">
              <a:solidFill>
                <a:srgbClr val="F5F7FA"/>
              </a:solidFill>
              <a:latin typeface="Aptos" panose="020B0004020202020204" pitchFamily="34" charset="0"/>
            </a:endParaRPr>
          </a:p>
        </p:txBody>
      </p:sp>
    </p:spTree>
    <p:extLst>
      <p:ext uri="{BB962C8B-B14F-4D97-AF65-F5344CB8AC3E}">
        <p14:creationId xmlns:p14="http://schemas.microsoft.com/office/powerpoint/2010/main" val="1963305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E0F81F-4D24-2184-05EC-F128D39A1958}"/>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1012D049-225B-5D10-D47B-01E13348D4CF}"/>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1C16C97C-2C48-149E-7591-77073EBC4F6F}"/>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US" sz="2600" b="1">
                <a:solidFill>
                  <a:srgbClr val="F5F7FA"/>
                </a:solidFill>
                <a:latin typeface="Aptos Display" panose="020B0004020202020204" pitchFamily="34" charset="0"/>
              </a:rPr>
              <a:t>Demo Walkthrough For The Video</a:t>
            </a:r>
            <a:endParaRPr lang="en-SG" sz="2600" b="1">
              <a:solidFill>
                <a:srgbClr val="F5F7FA"/>
              </a:solidFill>
              <a:latin typeface="Aptos Display" panose="020B0004020202020204" pitchFamily="34" charset="0"/>
            </a:endParaRPr>
          </a:p>
        </p:txBody>
      </p:sp>
      <p:sp>
        <p:nvSpPr>
          <p:cNvPr id="5" name="TextBox 4">
            <a:extLst>
              <a:ext uri="{FF2B5EF4-FFF2-40B4-BE49-F238E27FC236}">
                <a16:creationId xmlns:a16="http://schemas.microsoft.com/office/drawing/2014/main" id="{29482810-4839-2685-9E42-E827E9099C9F}"/>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4E359C3F-21DD-7DA4-EBA3-87090A034B57}"/>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8</a:t>
            </a:r>
          </a:p>
        </p:txBody>
      </p:sp>
      <p:sp>
        <p:nvSpPr>
          <p:cNvPr id="7" name="Rectangle 6">
            <a:extLst>
              <a:ext uri="{FF2B5EF4-FFF2-40B4-BE49-F238E27FC236}">
                <a16:creationId xmlns:a16="http://schemas.microsoft.com/office/drawing/2014/main" id="{86D889B5-C2D0-0E01-C042-BAA4A7583AE6}"/>
              </a:ext>
            </a:extLst>
          </p:cNvPr>
          <p:cNvSpPr/>
          <p:nvPr/>
        </p:nvSpPr>
        <p:spPr>
          <a:xfrm>
            <a:off x="812800" y="1244600"/>
            <a:ext cx="10515600" cy="711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59B93E52-EF5F-7EBF-6112-20B61324B20A}"/>
              </a:ext>
            </a:extLst>
          </p:cNvPr>
          <p:cNvSpPr/>
          <p:nvPr/>
        </p:nvSpPr>
        <p:spPr>
          <a:xfrm>
            <a:off x="990600" y="1371600"/>
            <a:ext cx="685800" cy="4572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FE80FE92-31C7-4146-2FBC-BEB80729E06F}"/>
              </a:ext>
            </a:extLst>
          </p:cNvPr>
          <p:cNvSpPr txBox="1"/>
          <p:nvPr/>
        </p:nvSpPr>
        <p:spPr>
          <a:xfrm>
            <a:off x="1143000" y="1447800"/>
            <a:ext cx="381000" cy="282129"/>
          </a:xfrm>
          <a:prstGeom prst="rect">
            <a:avLst/>
          </a:prstGeom>
          <a:noFill/>
        </p:spPr>
        <p:txBody>
          <a:bodyPr vert="horz" wrap="square" lIns="50800" tIns="25400" rIns="50800" bIns="25400" rtlCol="0">
            <a:spAutoFit/>
          </a:bodyPr>
          <a:lstStyle/>
          <a:p>
            <a:pPr algn="ctr"/>
            <a:r>
              <a:rPr lang="en-SG" sz="1500" b="1">
                <a:solidFill>
                  <a:srgbClr val="0C172B"/>
                </a:solidFill>
                <a:latin typeface="Aptos Display" panose="020B0004020202020204" pitchFamily="34" charset="0"/>
              </a:rPr>
              <a:t>01</a:t>
            </a:r>
          </a:p>
        </p:txBody>
      </p:sp>
      <p:sp>
        <p:nvSpPr>
          <p:cNvPr id="10" name="TextBox 9">
            <a:extLst>
              <a:ext uri="{FF2B5EF4-FFF2-40B4-BE49-F238E27FC236}">
                <a16:creationId xmlns:a16="http://schemas.microsoft.com/office/drawing/2014/main" id="{959E161B-50F2-5416-E4F6-557C5A902EDA}"/>
              </a:ext>
            </a:extLst>
          </p:cNvPr>
          <p:cNvSpPr txBox="1"/>
          <p:nvPr/>
        </p:nvSpPr>
        <p:spPr>
          <a:xfrm>
            <a:off x="1955800" y="1397000"/>
            <a:ext cx="23114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Place a star</a:t>
            </a:r>
          </a:p>
        </p:txBody>
      </p:sp>
      <p:sp>
        <p:nvSpPr>
          <p:cNvPr id="11" name="TextBox 10">
            <a:extLst>
              <a:ext uri="{FF2B5EF4-FFF2-40B4-BE49-F238E27FC236}">
                <a16:creationId xmlns:a16="http://schemas.microsoft.com/office/drawing/2014/main" id="{37C23372-9A59-FACD-18A8-A88411883E7F}"/>
              </a:ext>
            </a:extLst>
          </p:cNvPr>
          <p:cNvSpPr txBox="1"/>
          <p:nvPr/>
        </p:nvSpPr>
        <p:spPr>
          <a:xfrm>
            <a:off x="4445000" y="1397000"/>
            <a:ext cx="6604000" cy="251351"/>
          </a:xfrm>
          <a:prstGeom prst="rect">
            <a:avLst/>
          </a:prstGeom>
          <a:noFill/>
        </p:spPr>
        <p:txBody>
          <a:bodyPr vert="horz" wrap="square" lIns="50800" tIns="25400" rIns="50800" bIns="25400" rtlCol="0">
            <a:spAutoFit/>
          </a:bodyPr>
          <a:lstStyle/>
          <a:p>
            <a:r>
              <a:rPr lang="en-US" sz="1300">
                <a:solidFill>
                  <a:srgbClr val="C8D2E4"/>
                </a:solidFill>
                <a:latin typeface="Aptos" panose="020B0004020202020204" pitchFamily="34" charset="0"/>
              </a:rPr>
              <a:t>Create the anchor body that will provide the main gravity source.</a:t>
            </a:r>
            <a:endParaRPr lang="en-SG" sz="1300">
              <a:solidFill>
                <a:srgbClr val="C8D2E4"/>
              </a:solidFill>
              <a:latin typeface="Aptos" panose="020B0004020202020204" pitchFamily="34" charset="0"/>
            </a:endParaRPr>
          </a:p>
        </p:txBody>
      </p:sp>
      <p:sp>
        <p:nvSpPr>
          <p:cNvPr id="12" name="Rectangle 11">
            <a:extLst>
              <a:ext uri="{FF2B5EF4-FFF2-40B4-BE49-F238E27FC236}">
                <a16:creationId xmlns:a16="http://schemas.microsoft.com/office/drawing/2014/main" id="{45242B82-9DFD-48CC-7A6F-F5E14EB2E79C}"/>
              </a:ext>
            </a:extLst>
          </p:cNvPr>
          <p:cNvSpPr/>
          <p:nvPr/>
        </p:nvSpPr>
        <p:spPr>
          <a:xfrm>
            <a:off x="812800" y="2159000"/>
            <a:ext cx="10515600" cy="711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253470C2-154F-9A8F-33FF-6A7DA86E9F9A}"/>
              </a:ext>
            </a:extLst>
          </p:cNvPr>
          <p:cNvSpPr/>
          <p:nvPr/>
        </p:nvSpPr>
        <p:spPr>
          <a:xfrm>
            <a:off x="990600" y="2286000"/>
            <a:ext cx="685800" cy="4572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13">
            <a:extLst>
              <a:ext uri="{FF2B5EF4-FFF2-40B4-BE49-F238E27FC236}">
                <a16:creationId xmlns:a16="http://schemas.microsoft.com/office/drawing/2014/main" id="{AB5381DD-BE28-0901-217F-FEADA720E79B}"/>
              </a:ext>
            </a:extLst>
          </p:cNvPr>
          <p:cNvSpPr txBox="1"/>
          <p:nvPr/>
        </p:nvSpPr>
        <p:spPr>
          <a:xfrm>
            <a:off x="1143000" y="2362200"/>
            <a:ext cx="381000" cy="282129"/>
          </a:xfrm>
          <a:prstGeom prst="rect">
            <a:avLst/>
          </a:prstGeom>
          <a:noFill/>
        </p:spPr>
        <p:txBody>
          <a:bodyPr vert="horz" wrap="square" lIns="50800" tIns="25400" rIns="50800" bIns="25400" rtlCol="0">
            <a:spAutoFit/>
          </a:bodyPr>
          <a:lstStyle/>
          <a:p>
            <a:pPr algn="ctr"/>
            <a:r>
              <a:rPr lang="en-SG" sz="1500" b="1">
                <a:solidFill>
                  <a:srgbClr val="0C172B"/>
                </a:solidFill>
                <a:latin typeface="Aptos Display" panose="020B0004020202020204" pitchFamily="34" charset="0"/>
              </a:rPr>
              <a:t>02</a:t>
            </a:r>
          </a:p>
        </p:txBody>
      </p:sp>
      <p:sp>
        <p:nvSpPr>
          <p:cNvPr id="15" name="TextBox 14">
            <a:extLst>
              <a:ext uri="{FF2B5EF4-FFF2-40B4-BE49-F238E27FC236}">
                <a16:creationId xmlns:a16="http://schemas.microsoft.com/office/drawing/2014/main" id="{9208E608-1D70-15D5-691B-A914F13DB080}"/>
              </a:ext>
            </a:extLst>
          </p:cNvPr>
          <p:cNvSpPr txBox="1"/>
          <p:nvPr/>
        </p:nvSpPr>
        <p:spPr>
          <a:xfrm>
            <a:off x="1955800" y="2311400"/>
            <a:ext cx="23114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Add a planet</a:t>
            </a:r>
          </a:p>
        </p:txBody>
      </p:sp>
      <p:sp>
        <p:nvSpPr>
          <p:cNvPr id="16" name="TextBox 15">
            <a:extLst>
              <a:ext uri="{FF2B5EF4-FFF2-40B4-BE49-F238E27FC236}">
                <a16:creationId xmlns:a16="http://schemas.microsoft.com/office/drawing/2014/main" id="{84966BAE-E731-3F49-B0E8-AE08C54CC31F}"/>
              </a:ext>
            </a:extLst>
          </p:cNvPr>
          <p:cNvSpPr txBox="1"/>
          <p:nvPr/>
        </p:nvSpPr>
        <p:spPr>
          <a:xfrm>
            <a:off x="4445000" y="2311400"/>
            <a:ext cx="6604000" cy="251351"/>
          </a:xfrm>
          <a:prstGeom prst="rect">
            <a:avLst/>
          </a:prstGeom>
          <a:noFill/>
        </p:spPr>
        <p:txBody>
          <a:bodyPr vert="horz" wrap="square" lIns="50800" tIns="25400" rIns="50800" bIns="25400" rtlCol="0">
            <a:spAutoFit/>
          </a:bodyPr>
          <a:lstStyle/>
          <a:p>
            <a:r>
              <a:rPr lang="en-US" sz="1300">
                <a:solidFill>
                  <a:srgbClr val="C8D2E4"/>
                </a:solidFill>
                <a:latin typeface="Aptos" panose="020B0004020202020204" pitchFamily="34" charset="0"/>
              </a:rPr>
              <a:t>Tune its mass and velocity until the predicted path looks reasonable.</a:t>
            </a:r>
            <a:endParaRPr lang="en-SG" sz="1300">
              <a:solidFill>
                <a:srgbClr val="C8D2E4"/>
              </a:solidFill>
              <a:latin typeface="Aptos" panose="020B0004020202020204" pitchFamily="34" charset="0"/>
            </a:endParaRPr>
          </a:p>
        </p:txBody>
      </p:sp>
      <p:sp>
        <p:nvSpPr>
          <p:cNvPr id="17" name="Rectangle 16">
            <a:extLst>
              <a:ext uri="{FF2B5EF4-FFF2-40B4-BE49-F238E27FC236}">
                <a16:creationId xmlns:a16="http://schemas.microsoft.com/office/drawing/2014/main" id="{95098E8F-0092-9470-841A-581B7F9AA063}"/>
              </a:ext>
            </a:extLst>
          </p:cNvPr>
          <p:cNvSpPr/>
          <p:nvPr/>
        </p:nvSpPr>
        <p:spPr>
          <a:xfrm>
            <a:off x="812800" y="3073400"/>
            <a:ext cx="10515600" cy="711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D1F46497-E645-72A5-D642-91E5A1D1B067}"/>
              </a:ext>
            </a:extLst>
          </p:cNvPr>
          <p:cNvSpPr/>
          <p:nvPr/>
        </p:nvSpPr>
        <p:spPr>
          <a:xfrm>
            <a:off x="990600" y="3200400"/>
            <a:ext cx="685800" cy="457200"/>
          </a:xfrm>
          <a:prstGeom prst="rect">
            <a:avLst/>
          </a:prstGeom>
          <a:solidFill>
            <a:srgbClr val="4AA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TextBox 18">
            <a:extLst>
              <a:ext uri="{FF2B5EF4-FFF2-40B4-BE49-F238E27FC236}">
                <a16:creationId xmlns:a16="http://schemas.microsoft.com/office/drawing/2014/main" id="{B90FB910-B67F-B82C-CF73-8D694E8C9FCC}"/>
              </a:ext>
            </a:extLst>
          </p:cNvPr>
          <p:cNvSpPr txBox="1"/>
          <p:nvPr/>
        </p:nvSpPr>
        <p:spPr>
          <a:xfrm>
            <a:off x="1143000" y="3276600"/>
            <a:ext cx="381000" cy="282129"/>
          </a:xfrm>
          <a:prstGeom prst="rect">
            <a:avLst/>
          </a:prstGeom>
          <a:noFill/>
        </p:spPr>
        <p:txBody>
          <a:bodyPr vert="horz" wrap="square" lIns="50800" tIns="25400" rIns="50800" bIns="25400" rtlCol="0">
            <a:spAutoFit/>
          </a:bodyPr>
          <a:lstStyle/>
          <a:p>
            <a:pPr algn="ctr"/>
            <a:r>
              <a:rPr lang="en-SG" sz="1500" b="1">
                <a:solidFill>
                  <a:srgbClr val="0C172B"/>
                </a:solidFill>
                <a:latin typeface="Aptos Display" panose="020B0004020202020204" pitchFamily="34" charset="0"/>
              </a:rPr>
              <a:t>03</a:t>
            </a:r>
          </a:p>
        </p:txBody>
      </p:sp>
      <p:sp>
        <p:nvSpPr>
          <p:cNvPr id="20" name="TextBox 19">
            <a:extLst>
              <a:ext uri="{FF2B5EF4-FFF2-40B4-BE49-F238E27FC236}">
                <a16:creationId xmlns:a16="http://schemas.microsoft.com/office/drawing/2014/main" id="{6F2262A8-98B0-C1E5-BC77-2F11ACE7DF5C}"/>
              </a:ext>
            </a:extLst>
          </p:cNvPr>
          <p:cNvSpPr txBox="1"/>
          <p:nvPr/>
        </p:nvSpPr>
        <p:spPr>
          <a:xfrm>
            <a:off x="1955800" y="3225800"/>
            <a:ext cx="23114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Start simulation</a:t>
            </a:r>
          </a:p>
        </p:txBody>
      </p:sp>
      <p:sp>
        <p:nvSpPr>
          <p:cNvPr id="21" name="TextBox 20">
            <a:extLst>
              <a:ext uri="{FF2B5EF4-FFF2-40B4-BE49-F238E27FC236}">
                <a16:creationId xmlns:a16="http://schemas.microsoft.com/office/drawing/2014/main" id="{56FBA667-DB60-A682-8A83-7C28C40A9865}"/>
              </a:ext>
            </a:extLst>
          </p:cNvPr>
          <p:cNvSpPr txBox="1"/>
          <p:nvPr/>
        </p:nvSpPr>
        <p:spPr>
          <a:xfrm>
            <a:off x="4445000" y="3225800"/>
            <a:ext cx="6604000" cy="251351"/>
          </a:xfrm>
          <a:prstGeom prst="rect">
            <a:avLst/>
          </a:prstGeom>
          <a:noFill/>
        </p:spPr>
        <p:txBody>
          <a:bodyPr vert="horz" wrap="square" lIns="50800" tIns="25400" rIns="50800" bIns="25400" rtlCol="0">
            <a:spAutoFit/>
          </a:bodyPr>
          <a:lstStyle/>
          <a:p>
            <a:r>
              <a:rPr lang="en-US" sz="1300">
                <a:solidFill>
                  <a:srgbClr val="C8D2E4"/>
                </a:solidFill>
                <a:latin typeface="Aptos" panose="020B0004020202020204" pitchFamily="34" charset="0"/>
              </a:rPr>
              <a:t>Compare the live motion against the blueprint prediction.</a:t>
            </a:r>
            <a:endParaRPr lang="en-SG" sz="1300">
              <a:solidFill>
                <a:srgbClr val="C8D2E4"/>
              </a:solidFill>
              <a:latin typeface="Aptos" panose="020B0004020202020204" pitchFamily="34" charset="0"/>
            </a:endParaRPr>
          </a:p>
        </p:txBody>
      </p:sp>
      <p:sp>
        <p:nvSpPr>
          <p:cNvPr id="22" name="Rectangle 21">
            <a:extLst>
              <a:ext uri="{FF2B5EF4-FFF2-40B4-BE49-F238E27FC236}">
                <a16:creationId xmlns:a16="http://schemas.microsoft.com/office/drawing/2014/main" id="{B9F015BA-C5AC-ED74-A7F4-75044B9F209D}"/>
              </a:ext>
            </a:extLst>
          </p:cNvPr>
          <p:cNvSpPr/>
          <p:nvPr/>
        </p:nvSpPr>
        <p:spPr>
          <a:xfrm>
            <a:off x="812800" y="3987800"/>
            <a:ext cx="10515600" cy="711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Rectangle 22">
            <a:extLst>
              <a:ext uri="{FF2B5EF4-FFF2-40B4-BE49-F238E27FC236}">
                <a16:creationId xmlns:a16="http://schemas.microsoft.com/office/drawing/2014/main" id="{C4B676DD-EF92-861B-4DE0-C6602C3116A8}"/>
              </a:ext>
            </a:extLst>
          </p:cNvPr>
          <p:cNvSpPr/>
          <p:nvPr/>
        </p:nvSpPr>
        <p:spPr>
          <a:xfrm>
            <a:off x="990600" y="4114800"/>
            <a:ext cx="685800" cy="457200"/>
          </a:xfrm>
          <a:prstGeom prst="rect">
            <a:avLst/>
          </a:prstGeom>
          <a:solidFill>
            <a:srgbClr val="DC6C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EB5B915D-E312-02B1-6651-EB0ABE2E1DDC}"/>
              </a:ext>
            </a:extLst>
          </p:cNvPr>
          <p:cNvSpPr txBox="1"/>
          <p:nvPr/>
        </p:nvSpPr>
        <p:spPr>
          <a:xfrm>
            <a:off x="1143000" y="4191000"/>
            <a:ext cx="381000" cy="282129"/>
          </a:xfrm>
          <a:prstGeom prst="rect">
            <a:avLst/>
          </a:prstGeom>
          <a:noFill/>
        </p:spPr>
        <p:txBody>
          <a:bodyPr vert="horz" wrap="square" lIns="50800" tIns="25400" rIns="50800" bIns="25400" rtlCol="0">
            <a:spAutoFit/>
          </a:bodyPr>
          <a:lstStyle/>
          <a:p>
            <a:pPr algn="ctr"/>
            <a:r>
              <a:rPr lang="en-SG" sz="1500" b="1">
                <a:solidFill>
                  <a:srgbClr val="0C172B"/>
                </a:solidFill>
                <a:latin typeface="Aptos Display" panose="020B0004020202020204" pitchFamily="34" charset="0"/>
              </a:rPr>
              <a:t>04</a:t>
            </a:r>
          </a:p>
        </p:txBody>
      </p:sp>
      <p:sp>
        <p:nvSpPr>
          <p:cNvPr id="25" name="TextBox 24">
            <a:extLst>
              <a:ext uri="{FF2B5EF4-FFF2-40B4-BE49-F238E27FC236}">
                <a16:creationId xmlns:a16="http://schemas.microsoft.com/office/drawing/2014/main" id="{1FEE08D5-839E-4AAC-3D3C-612C9E4BC329}"/>
              </a:ext>
            </a:extLst>
          </p:cNvPr>
          <p:cNvSpPr txBox="1"/>
          <p:nvPr/>
        </p:nvSpPr>
        <p:spPr>
          <a:xfrm>
            <a:off x="1955800" y="4140200"/>
            <a:ext cx="23114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Pause and inspect</a:t>
            </a:r>
          </a:p>
        </p:txBody>
      </p:sp>
      <p:sp>
        <p:nvSpPr>
          <p:cNvPr id="26" name="TextBox 25">
            <a:extLst>
              <a:ext uri="{FF2B5EF4-FFF2-40B4-BE49-F238E27FC236}">
                <a16:creationId xmlns:a16="http://schemas.microsoft.com/office/drawing/2014/main" id="{CBB38CAC-2BA9-1C34-C06B-433B0F1B041E}"/>
              </a:ext>
            </a:extLst>
          </p:cNvPr>
          <p:cNvSpPr txBox="1"/>
          <p:nvPr/>
        </p:nvSpPr>
        <p:spPr>
          <a:xfrm>
            <a:off x="4445000" y="4140200"/>
            <a:ext cx="6604000" cy="251351"/>
          </a:xfrm>
          <a:prstGeom prst="rect">
            <a:avLst/>
          </a:prstGeom>
          <a:noFill/>
        </p:spPr>
        <p:txBody>
          <a:bodyPr vert="horz" wrap="square" lIns="50800" tIns="25400" rIns="50800" bIns="25400" rtlCol="0">
            <a:spAutoFit/>
          </a:bodyPr>
          <a:lstStyle/>
          <a:p>
            <a:r>
              <a:rPr lang="en-US" sz="1300">
                <a:solidFill>
                  <a:srgbClr val="C8D2E4"/>
                </a:solidFill>
                <a:latin typeface="Aptos" panose="020B0004020202020204" pitchFamily="34" charset="0"/>
              </a:rPr>
              <a:t>Show vectors, audio controls, and the collision mode toggle.</a:t>
            </a:r>
            <a:endParaRPr lang="en-SG" sz="1300">
              <a:solidFill>
                <a:srgbClr val="C8D2E4"/>
              </a:solidFill>
              <a:latin typeface="Aptos" panose="020B0004020202020204" pitchFamily="34" charset="0"/>
            </a:endParaRPr>
          </a:p>
        </p:txBody>
      </p:sp>
      <p:sp>
        <p:nvSpPr>
          <p:cNvPr id="27" name="Rectangle 26">
            <a:extLst>
              <a:ext uri="{FF2B5EF4-FFF2-40B4-BE49-F238E27FC236}">
                <a16:creationId xmlns:a16="http://schemas.microsoft.com/office/drawing/2014/main" id="{00E8E76D-12A3-25E4-ADFB-9D290232B097}"/>
              </a:ext>
            </a:extLst>
          </p:cNvPr>
          <p:cNvSpPr/>
          <p:nvPr/>
        </p:nvSpPr>
        <p:spPr>
          <a:xfrm>
            <a:off x="812800" y="4902200"/>
            <a:ext cx="10515600" cy="7112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Rectangle 27">
            <a:extLst>
              <a:ext uri="{FF2B5EF4-FFF2-40B4-BE49-F238E27FC236}">
                <a16:creationId xmlns:a16="http://schemas.microsoft.com/office/drawing/2014/main" id="{0E7F0C89-B288-D74E-2595-C2E4A70DB82E}"/>
              </a:ext>
            </a:extLst>
          </p:cNvPr>
          <p:cNvSpPr/>
          <p:nvPr/>
        </p:nvSpPr>
        <p:spPr>
          <a:xfrm>
            <a:off x="990600" y="5029200"/>
            <a:ext cx="685800" cy="4572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TextBox 28">
            <a:extLst>
              <a:ext uri="{FF2B5EF4-FFF2-40B4-BE49-F238E27FC236}">
                <a16:creationId xmlns:a16="http://schemas.microsoft.com/office/drawing/2014/main" id="{5713A46F-6358-55B4-0E89-E05DFC4AB564}"/>
              </a:ext>
            </a:extLst>
          </p:cNvPr>
          <p:cNvSpPr txBox="1"/>
          <p:nvPr/>
        </p:nvSpPr>
        <p:spPr>
          <a:xfrm>
            <a:off x="1143000" y="5105400"/>
            <a:ext cx="381000" cy="282129"/>
          </a:xfrm>
          <a:prstGeom prst="rect">
            <a:avLst/>
          </a:prstGeom>
          <a:noFill/>
        </p:spPr>
        <p:txBody>
          <a:bodyPr vert="horz" wrap="square" lIns="50800" tIns="25400" rIns="50800" bIns="25400" rtlCol="0">
            <a:spAutoFit/>
          </a:bodyPr>
          <a:lstStyle/>
          <a:p>
            <a:pPr algn="ctr"/>
            <a:r>
              <a:rPr lang="en-SG" sz="1500" b="1">
                <a:solidFill>
                  <a:srgbClr val="0C172B"/>
                </a:solidFill>
                <a:latin typeface="Aptos Display" panose="020B0004020202020204" pitchFamily="34" charset="0"/>
              </a:rPr>
              <a:t>05</a:t>
            </a:r>
          </a:p>
        </p:txBody>
      </p:sp>
      <p:sp>
        <p:nvSpPr>
          <p:cNvPr id="30" name="TextBox 29">
            <a:extLst>
              <a:ext uri="{FF2B5EF4-FFF2-40B4-BE49-F238E27FC236}">
                <a16:creationId xmlns:a16="http://schemas.microsoft.com/office/drawing/2014/main" id="{F62C838E-6F76-C701-40DD-4419A1FC74FC}"/>
              </a:ext>
            </a:extLst>
          </p:cNvPr>
          <p:cNvSpPr txBox="1"/>
          <p:nvPr/>
        </p:nvSpPr>
        <p:spPr>
          <a:xfrm>
            <a:off x="1955800" y="5054600"/>
            <a:ext cx="23114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Trigger a collision</a:t>
            </a:r>
          </a:p>
        </p:txBody>
      </p:sp>
      <p:sp>
        <p:nvSpPr>
          <p:cNvPr id="31" name="TextBox 30">
            <a:extLst>
              <a:ext uri="{FF2B5EF4-FFF2-40B4-BE49-F238E27FC236}">
                <a16:creationId xmlns:a16="http://schemas.microsoft.com/office/drawing/2014/main" id="{2D9F6726-B8E0-F23E-05C1-896EDB6CCDD2}"/>
              </a:ext>
            </a:extLst>
          </p:cNvPr>
          <p:cNvSpPr txBox="1"/>
          <p:nvPr/>
        </p:nvSpPr>
        <p:spPr>
          <a:xfrm>
            <a:off x="4445000" y="5054600"/>
            <a:ext cx="6604000" cy="251351"/>
          </a:xfrm>
          <a:prstGeom prst="rect">
            <a:avLst/>
          </a:prstGeom>
          <a:noFill/>
        </p:spPr>
        <p:txBody>
          <a:bodyPr vert="horz" wrap="square" lIns="50800" tIns="25400" rIns="50800" bIns="25400" rtlCol="0">
            <a:spAutoFit/>
          </a:bodyPr>
          <a:lstStyle/>
          <a:p>
            <a:r>
              <a:rPr lang="en-US" sz="1300">
                <a:solidFill>
                  <a:srgbClr val="C8D2E4"/>
                </a:solidFill>
                <a:latin typeface="Aptos" panose="020B0004020202020204" pitchFamily="34" charset="0"/>
              </a:rPr>
              <a:t>Demonstrate the difference between destruction and merge behaviour.</a:t>
            </a:r>
            <a:endParaRPr lang="en-SG" sz="1300">
              <a:solidFill>
                <a:srgbClr val="C8D2E4"/>
              </a:solidFill>
              <a:latin typeface="Aptos" panose="020B0004020202020204" pitchFamily="34" charset="0"/>
            </a:endParaRPr>
          </a:p>
        </p:txBody>
      </p:sp>
    </p:spTree>
    <p:extLst>
      <p:ext uri="{BB962C8B-B14F-4D97-AF65-F5344CB8AC3E}">
        <p14:creationId xmlns:p14="http://schemas.microsoft.com/office/powerpoint/2010/main" val="327646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10F4C6-DD9D-D8A6-969B-A01D1D8939B2}"/>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243EBEBF-6D89-C6EB-081C-226350C4C2ED}"/>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4A4C48D2-4774-BE0D-D272-C7F6FF60A4A7}"/>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Innovation, Scalability, And Verification</a:t>
            </a:r>
          </a:p>
        </p:txBody>
      </p:sp>
      <p:sp>
        <p:nvSpPr>
          <p:cNvPr id="5" name="TextBox 4">
            <a:extLst>
              <a:ext uri="{FF2B5EF4-FFF2-40B4-BE49-F238E27FC236}">
                <a16:creationId xmlns:a16="http://schemas.microsoft.com/office/drawing/2014/main" id="{F3207E64-65EC-A514-3ED1-9D24BF8D97D3}"/>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E59D8B55-527A-3DF0-29CC-0DC1500D3E02}"/>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9</a:t>
            </a:r>
          </a:p>
        </p:txBody>
      </p:sp>
      <p:sp>
        <p:nvSpPr>
          <p:cNvPr id="7" name="Rectangle 6">
            <a:extLst>
              <a:ext uri="{FF2B5EF4-FFF2-40B4-BE49-F238E27FC236}">
                <a16:creationId xmlns:a16="http://schemas.microsoft.com/office/drawing/2014/main" id="{C9DD9BD1-4AB2-5170-7593-4CAFC70C8716}"/>
              </a:ext>
            </a:extLst>
          </p:cNvPr>
          <p:cNvSpPr/>
          <p:nvPr/>
        </p:nvSpPr>
        <p:spPr>
          <a:xfrm>
            <a:off x="609600" y="1168400"/>
            <a:ext cx="2489200" cy="1143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A2A87F17-D281-8F68-D453-6D5E4E2ED682}"/>
              </a:ext>
            </a:extLst>
          </p:cNvPr>
          <p:cNvSpPr/>
          <p:nvPr/>
        </p:nvSpPr>
        <p:spPr>
          <a:xfrm>
            <a:off x="609600" y="1168400"/>
            <a:ext cx="101600" cy="11430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66114465-7C2B-CDED-ADFF-0BB891677336}"/>
              </a:ext>
            </a:extLst>
          </p:cNvPr>
          <p:cNvSpPr txBox="1"/>
          <p:nvPr/>
        </p:nvSpPr>
        <p:spPr>
          <a:xfrm>
            <a:off x="863600" y="1346200"/>
            <a:ext cx="20828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500 active bodies</a:t>
            </a:r>
          </a:p>
        </p:txBody>
      </p:sp>
      <p:sp>
        <p:nvSpPr>
          <p:cNvPr id="10" name="TextBox 9">
            <a:extLst>
              <a:ext uri="{FF2B5EF4-FFF2-40B4-BE49-F238E27FC236}">
                <a16:creationId xmlns:a16="http://schemas.microsoft.com/office/drawing/2014/main" id="{4C93236A-848A-66DF-738F-FB2DD2F2F83C}"/>
              </a:ext>
            </a:extLst>
          </p:cNvPr>
          <p:cNvSpPr txBox="1"/>
          <p:nvPr/>
        </p:nvSpPr>
        <p:spPr>
          <a:xfrm>
            <a:off x="863600" y="1701800"/>
            <a:ext cx="20828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Configured cap keeps the sandbox bounded and easier to manage.</a:t>
            </a:r>
            <a:endParaRPr lang="en-SG" sz="1100">
              <a:solidFill>
                <a:srgbClr val="C8D2E4"/>
              </a:solidFill>
              <a:latin typeface="Aptos" panose="020B0004020202020204" pitchFamily="34" charset="0"/>
            </a:endParaRPr>
          </a:p>
        </p:txBody>
      </p:sp>
      <p:sp>
        <p:nvSpPr>
          <p:cNvPr id="11" name="Rectangle 10">
            <a:extLst>
              <a:ext uri="{FF2B5EF4-FFF2-40B4-BE49-F238E27FC236}">
                <a16:creationId xmlns:a16="http://schemas.microsoft.com/office/drawing/2014/main" id="{CC75F57D-B6F0-7747-8F2D-84D6C08C1FD9}"/>
              </a:ext>
            </a:extLst>
          </p:cNvPr>
          <p:cNvSpPr/>
          <p:nvPr/>
        </p:nvSpPr>
        <p:spPr>
          <a:xfrm>
            <a:off x="3302000" y="1168400"/>
            <a:ext cx="2489200" cy="1143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C9FD9E27-4D09-E8B8-DE7B-2BD0648811BB}"/>
              </a:ext>
            </a:extLst>
          </p:cNvPr>
          <p:cNvSpPr/>
          <p:nvPr/>
        </p:nvSpPr>
        <p:spPr>
          <a:xfrm>
            <a:off x="3302000" y="1168400"/>
            <a:ext cx="101600" cy="1143000"/>
          </a:xfrm>
          <a:prstGeom prst="rect">
            <a:avLst/>
          </a:prstGeom>
          <a:solidFill>
            <a:srgbClr val="ECC3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553AD30C-5720-E31A-1396-A1AE29487183}"/>
              </a:ext>
            </a:extLst>
          </p:cNvPr>
          <p:cNvSpPr txBox="1"/>
          <p:nvPr/>
        </p:nvSpPr>
        <p:spPr>
          <a:xfrm>
            <a:off x="3556000" y="1346200"/>
            <a:ext cx="20828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1x / 2x / 3x speed</a:t>
            </a:r>
          </a:p>
        </p:txBody>
      </p:sp>
      <p:sp>
        <p:nvSpPr>
          <p:cNvPr id="14" name="TextBox 13">
            <a:extLst>
              <a:ext uri="{FF2B5EF4-FFF2-40B4-BE49-F238E27FC236}">
                <a16:creationId xmlns:a16="http://schemas.microsoft.com/office/drawing/2014/main" id="{144461EE-8653-4CA0-7B03-5EA162D71AA1}"/>
              </a:ext>
            </a:extLst>
          </p:cNvPr>
          <p:cNvSpPr txBox="1"/>
          <p:nvPr/>
        </p:nvSpPr>
        <p:spPr>
          <a:xfrm>
            <a:off x="3556000" y="1701800"/>
            <a:ext cx="20828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Runtime speed controls let the same simulation be explored at different pacing.</a:t>
            </a:r>
            <a:endParaRPr lang="en-SG" sz="1100">
              <a:solidFill>
                <a:srgbClr val="C8D2E4"/>
              </a:solidFill>
              <a:latin typeface="Aptos" panose="020B0004020202020204" pitchFamily="34" charset="0"/>
            </a:endParaRPr>
          </a:p>
        </p:txBody>
      </p:sp>
      <p:sp>
        <p:nvSpPr>
          <p:cNvPr id="15" name="Rectangle 14">
            <a:extLst>
              <a:ext uri="{FF2B5EF4-FFF2-40B4-BE49-F238E27FC236}">
                <a16:creationId xmlns:a16="http://schemas.microsoft.com/office/drawing/2014/main" id="{54B2394D-D931-A7D8-A958-C2F49571319C}"/>
              </a:ext>
            </a:extLst>
          </p:cNvPr>
          <p:cNvSpPr/>
          <p:nvPr/>
        </p:nvSpPr>
        <p:spPr>
          <a:xfrm>
            <a:off x="5994400" y="1168400"/>
            <a:ext cx="2489200" cy="1143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B2986C8C-E48E-7372-3267-685101435706}"/>
              </a:ext>
            </a:extLst>
          </p:cNvPr>
          <p:cNvSpPr/>
          <p:nvPr/>
        </p:nvSpPr>
        <p:spPr>
          <a:xfrm>
            <a:off x="5994400" y="1168400"/>
            <a:ext cx="101600" cy="1143000"/>
          </a:xfrm>
          <a:prstGeom prst="rect">
            <a:avLst/>
          </a:prstGeom>
          <a:solidFill>
            <a:srgbClr val="4AA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TextBox 16">
            <a:extLst>
              <a:ext uri="{FF2B5EF4-FFF2-40B4-BE49-F238E27FC236}">
                <a16:creationId xmlns:a16="http://schemas.microsoft.com/office/drawing/2014/main" id="{7BBD9F29-F2C2-C52D-C900-9ED6B0953203}"/>
              </a:ext>
            </a:extLst>
          </p:cNvPr>
          <p:cNvSpPr txBox="1"/>
          <p:nvPr/>
        </p:nvSpPr>
        <p:spPr>
          <a:xfrm>
            <a:off x="6248400" y="1346200"/>
            <a:ext cx="20828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Swappable collisions</a:t>
            </a:r>
          </a:p>
        </p:txBody>
      </p:sp>
      <p:sp>
        <p:nvSpPr>
          <p:cNvPr id="18" name="TextBox 17">
            <a:extLst>
              <a:ext uri="{FF2B5EF4-FFF2-40B4-BE49-F238E27FC236}">
                <a16:creationId xmlns:a16="http://schemas.microsoft.com/office/drawing/2014/main" id="{758F6E78-D4DD-3610-0137-A246B6A67B12}"/>
              </a:ext>
            </a:extLst>
          </p:cNvPr>
          <p:cNvSpPr txBox="1"/>
          <p:nvPr/>
        </p:nvSpPr>
        <p:spPr>
          <a:xfrm>
            <a:off x="6248400" y="1701800"/>
            <a:ext cx="20828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One manager, two behaviours: mutual destruction or merge strategy.</a:t>
            </a:r>
            <a:endParaRPr lang="en-SG" sz="1100">
              <a:solidFill>
                <a:srgbClr val="C8D2E4"/>
              </a:solidFill>
              <a:latin typeface="Aptos" panose="020B0004020202020204" pitchFamily="34" charset="0"/>
            </a:endParaRPr>
          </a:p>
        </p:txBody>
      </p:sp>
      <p:sp>
        <p:nvSpPr>
          <p:cNvPr id="19" name="Rectangle 18">
            <a:extLst>
              <a:ext uri="{FF2B5EF4-FFF2-40B4-BE49-F238E27FC236}">
                <a16:creationId xmlns:a16="http://schemas.microsoft.com/office/drawing/2014/main" id="{B7CC8364-40DB-864A-2A1E-BB68CF9E6137}"/>
              </a:ext>
            </a:extLst>
          </p:cNvPr>
          <p:cNvSpPr/>
          <p:nvPr/>
        </p:nvSpPr>
        <p:spPr>
          <a:xfrm>
            <a:off x="8686800" y="1168400"/>
            <a:ext cx="2489200" cy="11430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84C70B97-F691-D037-CBCE-5E40BC8DE4A0}"/>
              </a:ext>
            </a:extLst>
          </p:cNvPr>
          <p:cNvSpPr/>
          <p:nvPr/>
        </p:nvSpPr>
        <p:spPr>
          <a:xfrm>
            <a:off x="8686800" y="1168400"/>
            <a:ext cx="101600" cy="1143000"/>
          </a:xfrm>
          <a:prstGeom prst="rect">
            <a:avLst/>
          </a:prstGeom>
          <a:solidFill>
            <a:srgbClr val="DC6C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6CC7ABA6-9389-6DF8-81C4-F118C04D1B15}"/>
              </a:ext>
            </a:extLst>
          </p:cNvPr>
          <p:cNvSpPr txBox="1"/>
          <p:nvPr/>
        </p:nvSpPr>
        <p:spPr>
          <a:xfrm>
            <a:off x="8940800" y="1346200"/>
            <a:ext cx="2082800" cy="297517"/>
          </a:xfrm>
          <a:prstGeom prst="rect">
            <a:avLst/>
          </a:prstGeom>
          <a:noFill/>
        </p:spPr>
        <p:txBody>
          <a:bodyPr vert="horz" wrap="square" lIns="50800" tIns="25400" rIns="50800" bIns="25400" rtlCol="0">
            <a:spAutoFit/>
          </a:bodyPr>
          <a:lstStyle/>
          <a:p>
            <a:r>
              <a:rPr lang="en-SG" sz="1600" b="1">
                <a:solidFill>
                  <a:srgbClr val="F5F7FA"/>
                </a:solidFill>
                <a:latin typeface="Aptos Display" panose="020B0004020202020204" pitchFamily="34" charset="0"/>
              </a:rPr>
              <a:t>Build verified</a:t>
            </a:r>
          </a:p>
        </p:txBody>
      </p:sp>
      <p:sp>
        <p:nvSpPr>
          <p:cNvPr id="22" name="TextBox 21">
            <a:extLst>
              <a:ext uri="{FF2B5EF4-FFF2-40B4-BE49-F238E27FC236}">
                <a16:creationId xmlns:a16="http://schemas.microsoft.com/office/drawing/2014/main" id="{48340B90-C0AD-28C1-9F29-E93788BB56D8}"/>
              </a:ext>
            </a:extLst>
          </p:cNvPr>
          <p:cNvSpPr txBox="1"/>
          <p:nvPr/>
        </p:nvSpPr>
        <p:spPr>
          <a:xfrm>
            <a:off x="8940800" y="1701800"/>
            <a:ext cx="2082800" cy="559127"/>
          </a:xfrm>
          <a:prstGeom prst="rect">
            <a:avLst/>
          </a:prstGeom>
          <a:noFill/>
        </p:spPr>
        <p:txBody>
          <a:bodyPr vert="horz" wrap="square" lIns="50800" tIns="25400" rIns="50800" bIns="25400" rtlCol="0">
            <a:spAutoFit/>
          </a:bodyPr>
          <a:lstStyle/>
          <a:p>
            <a:r>
              <a:rPr lang="en-US" sz="1100">
                <a:solidFill>
                  <a:srgbClr val="C8D2E4"/>
                </a:solidFill>
                <a:latin typeface="Aptos" panose="020B0004020202020204" pitchFamily="34" charset="0"/>
              </a:rPr>
              <a:t>The project passed a successful Gradle build before this deck was generated.</a:t>
            </a:r>
            <a:endParaRPr lang="en-SG" sz="1100">
              <a:solidFill>
                <a:srgbClr val="C8D2E4"/>
              </a:solidFill>
              <a:latin typeface="Aptos" panose="020B0004020202020204" pitchFamily="34" charset="0"/>
            </a:endParaRPr>
          </a:p>
        </p:txBody>
      </p:sp>
      <p:sp>
        <p:nvSpPr>
          <p:cNvPr id="23" name="TextBox 22">
            <a:extLst>
              <a:ext uri="{FF2B5EF4-FFF2-40B4-BE49-F238E27FC236}">
                <a16:creationId xmlns:a16="http://schemas.microsoft.com/office/drawing/2014/main" id="{5595FE5F-58E6-FA51-CCFA-1C0DA409C9AC}"/>
              </a:ext>
            </a:extLst>
          </p:cNvPr>
          <p:cNvSpPr txBox="1"/>
          <p:nvPr/>
        </p:nvSpPr>
        <p:spPr>
          <a:xfrm>
            <a:off x="812800" y="2946400"/>
            <a:ext cx="10363200" cy="188256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Reuses one engine instead of rewriting logic for a single simulation.</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Combines live editing, trajectory prediction, orbit interpretation, and runtime mode switches.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Uses explicit configuration values such as body caps and prediction limits.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Keeps engine services reusable while sandbox logic remains isolated.</a:t>
            </a:r>
            <a:endParaRPr lang="en-SG" sz="1700">
              <a:solidFill>
                <a:srgbClr val="F5F7FA"/>
              </a:solidFill>
              <a:latin typeface="Aptos" panose="020B0004020202020204" pitchFamily="34" charset="0"/>
            </a:endParaRPr>
          </a:p>
        </p:txBody>
      </p:sp>
    </p:spTree>
    <p:extLst>
      <p:ext uri="{BB962C8B-B14F-4D97-AF65-F5344CB8AC3E}">
        <p14:creationId xmlns:p14="http://schemas.microsoft.com/office/powerpoint/2010/main" val="2910908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E7A546-3361-F59E-39DC-273E45DC5758}"/>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31A2176-F5C5-96EB-BDDE-3EF4423DD1C3}"/>
              </a:ext>
            </a:extLst>
          </p:cNvPr>
          <p:cNvSpPr/>
          <p:nvPr/>
        </p:nvSpPr>
        <p:spPr>
          <a:xfrm>
            <a:off x="0" y="0"/>
            <a:ext cx="12192000" cy="177800"/>
          </a:xfrm>
          <a:prstGeom prst="rect">
            <a:avLst/>
          </a:prstGeom>
          <a:solidFill>
            <a:srgbClr val="4CABB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1B990A2F-0A11-8C2D-FDB9-D7D1FAA794E4}"/>
              </a:ext>
            </a:extLst>
          </p:cNvPr>
          <p:cNvSpPr txBox="1"/>
          <p:nvPr/>
        </p:nvSpPr>
        <p:spPr>
          <a:xfrm>
            <a:off x="533400" y="330200"/>
            <a:ext cx="8763000" cy="451406"/>
          </a:xfrm>
          <a:prstGeom prst="rect">
            <a:avLst/>
          </a:prstGeom>
          <a:noFill/>
        </p:spPr>
        <p:txBody>
          <a:bodyPr vert="horz" wrap="square" lIns="50800" tIns="25400" rIns="50800" bIns="25400" rtlCol="0">
            <a:spAutoFit/>
          </a:bodyPr>
          <a:lstStyle/>
          <a:p>
            <a:r>
              <a:rPr lang="en-SG" sz="2600" b="1">
                <a:solidFill>
                  <a:srgbClr val="F5F7FA"/>
                </a:solidFill>
                <a:latin typeface="Aptos Display" panose="020B0004020202020204" pitchFamily="34" charset="0"/>
              </a:rPr>
              <a:t>Limitations And Next Steps</a:t>
            </a:r>
          </a:p>
        </p:txBody>
      </p:sp>
      <p:sp>
        <p:nvSpPr>
          <p:cNvPr id="5" name="TextBox 4">
            <a:extLst>
              <a:ext uri="{FF2B5EF4-FFF2-40B4-BE49-F238E27FC236}">
                <a16:creationId xmlns:a16="http://schemas.microsoft.com/office/drawing/2014/main" id="{BD7A4DD3-2549-05DF-52ED-13673CAE6DCA}"/>
              </a:ext>
            </a:extLst>
          </p:cNvPr>
          <p:cNvSpPr txBox="1"/>
          <p:nvPr/>
        </p:nvSpPr>
        <p:spPr>
          <a:xfrm>
            <a:off x="533400" y="64897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6" name="TextBox 5">
            <a:extLst>
              <a:ext uri="{FF2B5EF4-FFF2-40B4-BE49-F238E27FC236}">
                <a16:creationId xmlns:a16="http://schemas.microsoft.com/office/drawing/2014/main" id="{A33C2337-F7EF-0767-9814-9A8FC93D8A0D}"/>
              </a:ext>
            </a:extLst>
          </p:cNvPr>
          <p:cNvSpPr txBox="1"/>
          <p:nvPr/>
        </p:nvSpPr>
        <p:spPr>
          <a:xfrm>
            <a:off x="11430000" y="64897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10</a:t>
            </a:r>
          </a:p>
        </p:txBody>
      </p:sp>
      <p:sp>
        <p:nvSpPr>
          <p:cNvPr id="7" name="Rectangle 6">
            <a:extLst>
              <a:ext uri="{FF2B5EF4-FFF2-40B4-BE49-F238E27FC236}">
                <a16:creationId xmlns:a16="http://schemas.microsoft.com/office/drawing/2014/main" id="{269F6C92-F25B-53F6-6A05-24EE86BE6C8A}"/>
              </a:ext>
            </a:extLst>
          </p:cNvPr>
          <p:cNvSpPr/>
          <p:nvPr/>
        </p:nvSpPr>
        <p:spPr>
          <a:xfrm>
            <a:off x="609600" y="1320800"/>
            <a:ext cx="4978400" cy="3454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1BF6E134-9E45-7509-2E96-FB848EB13C71}"/>
              </a:ext>
            </a:extLst>
          </p:cNvPr>
          <p:cNvSpPr txBox="1"/>
          <p:nvPr/>
        </p:nvSpPr>
        <p:spPr>
          <a:xfrm>
            <a:off x="889000" y="1549400"/>
            <a:ext cx="4419600" cy="328295"/>
          </a:xfrm>
          <a:prstGeom prst="rect">
            <a:avLst/>
          </a:prstGeom>
          <a:noFill/>
        </p:spPr>
        <p:txBody>
          <a:bodyPr vert="horz" wrap="square" lIns="50800" tIns="25400" rIns="50800" bIns="25400" rtlCol="0">
            <a:spAutoFit/>
          </a:bodyPr>
          <a:lstStyle/>
          <a:p>
            <a:r>
              <a:rPr lang="en-SG" b="1">
                <a:solidFill>
                  <a:srgbClr val="ECC355"/>
                </a:solidFill>
                <a:latin typeface="Aptos Display" panose="020B0004020202020204" pitchFamily="34" charset="0"/>
              </a:rPr>
              <a:t>Current limitations</a:t>
            </a:r>
          </a:p>
        </p:txBody>
      </p:sp>
      <p:sp>
        <p:nvSpPr>
          <p:cNvPr id="9" name="TextBox 8">
            <a:extLst>
              <a:ext uri="{FF2B5EF4-FFF2-40B4-BE49-F238E27FC236}">
                <a16:creationId xmlns:a16="http://schemas.microsoft.com/office/drawing/2014/main" id="{51F5E299-B281-6A1D-ECBA-32D6561E77BB}"/>
              </a:ext>
            </a:extLst>
          </p:cNvPr>
          <p:cNvSpPr txBox="1"/>
          <p:nvPr/>
        </p:nvSpPr>
        <p:spPr>
          <a:xfrm>
            <a:off x="889000" y="2006600"/>
            <a:ext cx="4318000" cy="292900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Trajectory prediction uses a simple forward Euler approach.</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Long future paths can drift from more accurate orbital behaviour.</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Pairwise collision checks are expensive for much larger simulations.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There is no save/load system or preset scenario library yet.</a:t>
            </a:r>
            <a:endParaRPr lang="en-SG" sz="1700">
              <a:solidFill>
                <a:srgbClr val="F5F7FA"/>
              </a:solidFill>
              <a:latin typeface="Aptos" panose="020B0004020202020204" pitchFamily="34" charset="0"/>
            </a:endParaRPr>
          </a:p>
        </p:txBody>
      </p:sp>
      <p:sp>
        <p:nvSpPr>
          <p:cNvPr id="10" name="Rectangle 9">
            <a:extLst>
              <a:ext uri="{FF2B5EF4-FFF2-40B4-BE49-F238E27FC236}">
                <a16:creationId xmlns:a16="http://schemas.microsoft.com/office/drawing/2014/main" id="{F7BCC275-8093-4186-3273-217EA13C3A57}"/>
              </a:ext>
            </a:extLst>
          </p:cNvPr>
          <p:cNvSpPr/>
          <p:nvPr/>
        </p:nvSpPr>
        <p:spPr>
          <a:xfrm>
            <a:off x="6350000" y="1320800"/>
            <a:ext cx="4978400" cy="3454400"/>
          </a:xfrm>
          <a:prstGeom prst="rect">
            <a:avLst/>
          </a:prstGeom>
          <a:solidFill>
            <a:srgbClr val="172643">
              <a:alpha val="98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23B123EE-F74F-A9C5-50C0-EE11C70E2308}"/>
              </a:ext>
            </a:extLst>
          </p:cNvPr>
          <p:cNvSpPr txBox="1"/>
          <p:nvPr/>
        </p:nvSpPr>
        <p:spPr>
          <a:xfrm>
            <a:off x="6629400" y="1549400"/>
            <a:ext cx="4419600" cy="328295"/>
          </a:xfrm>
          <a:prstGeom prst="rect">
            <a:avLst/>
          </a:prstGeom>
          <a:noFill/>
        </p:spPr>
        <p:txBody>
          <a:bodyPr vert="horz" wrap="square" lIns="50800" tIns="25400" rIns="50800" bIns="25400" rtlCol="0">
            <a:spAutoFit/>
          </a:bodyPr>
          <a:lstStyle/>
          <a:p>
            <a:r>
              <a:rPr lang="en-SG" b="1">
                <a:solidFill>
                  <a:srgbClr val="ECC355"/>
                </a:solidFill>
                <a:latin typeface="Aptos Display" panose="020B0004020202020204" pitchFamily="34" charset="0"/>
              </a:rPr>
              <a:t>Next improvements</a:t>
            </a:r>
          </a:p>
        </p:txBody>
      </p:sp>
      <p:sp>
        <p:nvSpPr>
          <p:cNvPr id="12" name="TextBox 11">
            <a:extLst>
              <a:ext uri="{FF2B5EF4-FFF2-40B4-BE49-F238E27FC236}">
                <a16:creationId xmlns:a16="http://schemas.microsoft.com/office/drawing/2014/main" id="{968BE938-3518-602F-155C-FAF85982FDF3}"/>
              </a:ext>
            </a:extLst>
          </p:cNvPr>
          <p:cNvSpPr txBox="1"/>
          <p:nvPr/>
        </p:nvSpPr>
        <p:spPr>
          <a:xfrm>
            <a:off x="6629400" y="2006600"/>
            <a:ext cx="4318000" cy="292900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Use more advanced integration and prediction methods.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Introduce spatial partitioning or other collision optimisations.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Add body presets, tutorials, and scenario save/load.</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Profile the project further and expand the educational analytics.</a:t>
            </a:r>
            <a:endParaRPr lang="en-SG" sz="1700">
              <a:solidFill>
                <a:srgbClr val="F5F7FA"/>
              </a:solidFill>
              <a:latin typeface="Aptos" panose="020B0004020202020204" pitchFamily="34" charset="0"/>
            </a:endParaRPr>
          </a:p>
        </p:txBody>
      </p:sp>
    </p:spTree>
    <p:extLst>
      <p:ext uri="{BB962C8B-B14F-4D97-AF65-F5344CB8AC3E}">
        <p14:creationId xmlns:p14="http://schemas.microsoft.com/office/powerpoint/2010/main" val="441479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8419AC-7870-A420-BB4D-A3C14B4DD457}"/>
              </a:ext>
            </a:extLst>
          </p:cNvPr>
          <p:cNvSpPr/>
          <p:nvPr/>
        </p:nvSpPr>
        <p:spPr>
          <a:xfrm>
            <a:off x="0" y="0"/>
            <a:ext cx="12192000" cy="6858000"/>
          </a:xfrm>
          <a:prstGeom prst="rect">
            <a:avLst/>
          </a:prstGeom>
          <a:solidFill>
            <a:srgbClr val="0C17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Picture 3">
            <a:extLst>
              <a:ext uri="{FF2B5EF4-FFF2-40B4-BE49-F238E27FC236}">
                <a16:creationId xmlns:a16="http://schemas.microsoft.com/office/drawing/2014/main" id="{474AE906-1196-7AD1-CC96-6E0BFCDD66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
        <p:nvSpPr>
          <p:cNvPr id="5" name="Rectangle 4">
            <a:extLst>
              <a:ext uri="{FF2B5EF4-FFF2-40B4-BE49-F238E27FC236}">
                <a16:creationId xmlns:a16="http://schemas.microsoft.com/office/drawing/2014/main" id="{1F7BF06D-CA72-B93F-DEFE-D09B3E2182AB}"/>
              </a:ext>
            </a:extLst>
          </p:cNvPr>
          <p:cNvSpPr/>
          <p:nvPr/>
        </p:nvSpPr>
        <p:spPr>
          <a:xfrm>
            <a:off x="0" y="0"/>
            <a:ext cx="12192000" cy="6858000"/>
          </a:xfrm>
          <a:prstGeom prst="rect">
            <a:avLst/>
          </a:prstGeom>
          <a:solidFill>
            <a:srgbClr val="0C172B">
              <a:alpha val="7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6954258D-E522-5B15-AE70-E2FE220136B6}"/>
              </a:ext>
            </a:extLst>
          </p:cNvPr>
          <p:cNvSpPr txBox="1"/>
          <p:nvPr/>
        </p:nvSpPr>
        <p:spPr>
          <a:xfrm>
            <a:off x="762000" y="787400"/>
            <a:ext cx="6604000" cy="482183"/>
          </a:xfrm>
          <a:prstGeom prst="rect">
            <a:avLst/>
          </a:prstGeom>
          <a:noFill/>
        </p:spPr>
        <p:txBody>
          <a:bodyPr vert="horz" wrap="square" lIns="50800" tIns="25400" rIns="50800" bIns="25400" rtlCol="0">
            <a:spAutoFit/>
          </a:bodyPr>
          <a:lstStyle/>
          <a:p>
            <a:r>
              <a:rPr lang="en-SG" sz="2800" b="1">
                <a:solidFill>
                  <a:srgbClr val="F5F7FA"/>
                </a:solidFill>
                <a:latin typeface="Aptos Display" panose="020B0004020202020204" pitchFamily="34" charset="0"/>
              </a:rPr>
              <a:t>Closing Takeaways</a:t>
            </a:r>
          </a:p>
        </p:txBody>
      </p:sp>
      <p:sp>
        <p:nvSpPr>
          <p:cNvPr id="7" name="TextBox 6">
            <a:extLst>
              <a:ext uri="{FF2B5EF4-FFF2-40B4-BE49-F238E27FC236}">
                <a16:creationId xmlns:a16="http://schemas.microsoft.com/office/drawing/2014/main" id="{DC7E0BAF-B18E-BCE8-C325-934D2AD4F14C}"/>
              </a:ext>
            </a:extLst>
          </p:cNvPr>
          <p:cNvSpPr txBox="1"/>
          <p:nvPr/>
        </p:nvSpPr>
        <p:spPr>
          <a:xfrm>
            <a:off x="762000" y="1752600"/>
            <a:ext cx="6350000" cy="2929007"/>
          </a:xfrm>
          <a:prstGeom prst="rect">
            <a:avLst/>
          </a:prstGeom>
          <a:noFill/>
        </p:spPr>
        <p:txBody>
          <a:bodyPr vert="horz" wrap="square" lIns="50800" tIns="25400" rIns="50800" bIns="25400" rtlCol="0">
            <a:spAutoFit/>
          </a:bodyPr>
          <a:lstStyle/>
          <a:p>
            <a:r>
              <a:rPr lang="en-US" sz="1700">
                <a:solidFill>
                  <a:srgbClr val="F5F7FA"/>
                </a:solidFill>
                <a:latin typeface="Aptos" panose="020B0004020202020204" pitchFamily="34" charset="0"/>
              </a:rPr>
              <a:t>• Part 2 demonstrates that our Part 1 engine can support a separate simulation cleanly.</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 project showcases reusable architecture, OOP principles, and multiple design patterns.</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 sandbox adds educational value through prediction, statistics, and interactive experimentation.</a:t>
            </a:r>
          </a:p>
          <a:p>
            <a:endParaRPr lang="en-US" sz="1700">
              <a:solidFill>
                <a:srgbClr val="F5F7FA"/>
              </a:solidFill>
              <a:latin typeface="Aptos" panose="020B0004020202020204" pitchFamily="34" charset="0"/>
            </a:endParaRPr>
          </a:p>
          <a:p>
            <a:r>
              <a:rPr lang="en-US" sz="1700">
                <a:solidFill>
                  <a:srgbClr val="F5F7FA"/>
                </a:solidFill>
                <a:latin typeface="Aptos" panose="020B0004020202020204" pitchFamily="34" charset="0"/>
              </a:rPr>
              <a:t>• The final deck is designed to support a concise 10-minute video presentation.</a:t>
            </a:r>
            <a:endParaRPr lang="en-SG" sz="1700">
              <a:solidFill>
                <a:srgbClr val="F5F7FA"/>
              </a:solidFill>
              <a:latin typeface="Aptos" panose="020B0004020202020204" pitchFamily="34" charset="0"/>
            </a:endParaRPr>
          </a:p>
        </p:txBody>
      </p:sp>
      <p:sp>
        <p:nvSpPr>
          <p:cNvPr id="8" name="Rectangle 7">
            <a:extLst>
              <a:ext uri="{FF2B5EF4-FFF2-40B4-BE49-F238E27FC236}">
                <a16:creationId xmlns:a16="http://schemas.microsoft.com/office/drawing/2014/main" id="{4327B578-FD34-701E-BD09-6276E95D7BA4}"/>
              </a:ext>
            </a:extLst>
          </p:cNvPr>
          <p:cNvSpPr/>
          <p:nvPr/>
        </p:nvSpPr>
        <p:spPr>
          <a:xfrm>
            <a:off x="7772400" y="2133600"/>
            <a:ext cx="3302000" cy="1524000"/>
          </a:xfrm>
          <a:prstGeom prst="rect">
            <a:avLst/>
          </a:prstGeom>
          <a:solidFill>
            <a:srgbClr val="172643">
              <a:alpha val="92000"/>
            </a:srgbClr>
          </a:solidFill>
          <a:ln w="15240" cap="flat" cmpd="sng" algn="ctr">
            <a:solidFill>
              <a:srgbClr val="1F3459"/>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2AE5DAE6-E302-529C-17CA-191B8F366726}"/>
              </a:ext>
            </a:extLst>
          </p:cNvPr>
          <p:cNvSpPr txBox="1"/>
          <p:nvPr/>
        </p:nvSpPr>
        <p:spPr>
          <a:xfrm>
            <a:off x="8077200" y="2463800"/>
            <a:ext cx="2692400" cy="913070"/>
          </a:xfrm>
          <a:prstGeom prst="rect">
            <a:avLst/>
          </a:prstGeom>
          <a:noFill/>
        </p:spPr>
        <p:txBody>
          <a:bodyPr vert="horz" wrap="square" lIns="50800" tIns="25400" rIns="50800" bIns="25400" rtlCol="0">
            <a:spAutoFit/>
          </a:bodyPr>
          <a:lstStyle/>
          <a:p>
            <a:r>
              <a:rPr lang="en-US" sz="1400">
                <a:solidFill>
                  <a:srgbClr val="F5F7FA"/>
                </a:solidFill>
                <a:latin typeface="Aptos" panose="020B0004020202020204" pitchFamily="34" charset="0"/>
              </a:rPr>
              <a:t>Replace the speaker placeholders in the notes with your real team member names before recording.</a:t>
            </a:r>
            <a:endParaRPr lang="en-SG" sz="1400">
              <a:solidFill>
                <a:srgbClr val="F5F7FA"/>
              </a:solidFill>
              <a:latin typeface="Aptos" panose="020B0004020202020204" pitchFamily="34" charset="0"/>
            </a:endParaRPr>
          </a:p>
        </p:txBody>
      </p:sp>
      <p:sp>
        <p:nvSpPr>
          <p:cNvPr id="10" name="TextBox 9">
            <a:extLst>
              <a:ext uri="{FF2B5EF4-FFF2-40B4-BE49-F238E27FC236}">
                <a16:creationId xmlns:a16="http://schemas.microsoft.com/office/drawing/2014/main" id="{1B109F72-1A8D-36A1-7998-D6E5D0181A64}"/>
              </a:ext>
            </a:extLst>
          </p:cNvPr>
          <p:cNvSpPr txBox="1"/>
          <p:nvPr/>
        </p:nvSpPr>
        <p:spPr>
          <a:xfrm>
            <a:off x="762000" y="6172200"/>
            <a:ext cx="2794000" cy="189796"/>
          </a:xfrm>
          <a:prstGeom prst="rect">
            <a:avLst/>
          </a:prstGeom>
          <a:noFill/>
        </p:spPr>
        <p:txBody>
          <a:bodyPr vert="horz" wrap="square" lIns="50800" tIns="25400" rIns="50800" bIns="25400" rtlCol="0">
            <a:spAutoFit/>
          </a:bodyPr>
          <a:lstStyle/>
          <a:p>
            <a:r>
              <a:rPr lang="en-US" sz="900">
                <a:solidFill>
                  <a:srgbClr val="C8D2E4"/>
                </a:solidFill>
                <a:latin typeface="Aptos" panose="020B0004020202020204" pitchFamily="34" charset="0"/>
              </a:rPr>
              <a:t>INF1009 Part 2 | Team 6</a:t>
            </a:r>
            <a:endParaRPr lang="en-SG" sz="900">
              <a:solidFill>
                <a:srgbClr val="C8D2E4"/>
              </a:solidFill>
              <a:latin typeface="Aptos" panose="020B0004020202020204" pitchFamily="34" charset="0"/>
            </a:endParaRPr>
          </a:p>
        </p:txBody>
      </p:sp>
      <p:sp>
        <p:nvSpPr>
          <p:cNvPr id="11" name="TextBox 10">
            <a:extLst>
              <a:ext uri="{FF2B5EF4-FFF2-40B4-BE49-F238E27FC236}">
                <a16:creationId xmlns:a16="http://schemas.microsoft.com/office/drawing/2014/main" id="{4C5B8040-4186-CC1A-8B78-72ED3CBB70B8}"/>
              </a:ext>
            </a:extLst>
          </p:cNvPr>
          <p:cNvSpPr txBox="1"/>
          <p:nvPr/>
        </p:nvSpPr>
        <p:spPr>
          <a:xfrm>
            <a:off x="11430000" y="6172200"/>
            <a:ext cx="254000" cy="189796"/>
          </a:xfrm>
          <a:prstGeom prst="rect">
            <a:avLst/>
          </a:prstGeom>
          <a:noFill/>
        </p:spPr>
        <p:txBody>
          <a:bodyPr vert="horz" wrap="square" lIns="50800" tIns="25400" rIns="50800" bIns="25400" rtlCol="0">
            <a:spAutoFit/>
          </a:bodyPr>
          <a:lstStyle/>
          <a:p>
            <a:pPr algn="r"/>
            <a:r>
              <a:rPr lang="en-SG" sz="900">
                <a:solidFill>
                  <a:srgbClr val="C8D2E4"/>
                </a:solidFill>
                <a:latin typeface="Aptos" panose="020B0004020202020204" pitchFamily="34" charset="0"/>
              </a:rPr>
              <a:t>11</a:t>
            </a:r>
          </a:p>
        </p:txBody>
      </p:sp>
    </p:spTree>
    <p:extLst>
      <p:ext uri="{BB962C8B-B14F-4D97-AF65-F5344CB8AC3E}">
        <p14:creationId xmlns:p14="http://schemas.microsoft.com/office/powerpoint/2010/main" val="1922648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2341</Words>
  <Application>Microsoft Office PowerPoint</Application>
  <PresentationFormat>Custom</PresentationFormat>
  <Paragraphs>173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Mustaqim Bin Aziz</dc:creator>
  <cp:lastModifiedBy>Muhammad Mustaqim Bin Aziz</cp:lastModifiedBy>
  <cp:revision>1</cp:revision>
  <dcterms:created xsi:type="dcterms:W3CDTF">2026-03-26T13:47:25Z</dcterms:created>
  <dcterms:modified xsi:type="dcterms:W3CDTF">2026-03-26T13:47:25Z</dcterms:modified>
</cp:coreProperties>
</file>